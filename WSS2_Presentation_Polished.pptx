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WSS2 is a zero-player survival simulation — meaning the AI controls everything. You set it up, hit go, and watch. What makes it unique is the modular brain system. Each agent has a Vision module that gathers sensory data, and a separate Brain module that makes decisions based on that data. This separation means we can swap out brains, compare strategies side-by-side, and actually measure which AI performs better in the same situation. It's both a game and a research tool for studying AI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big goals here. First — a stable core loop. That means the game consistently runs from start to finish without crashing. Agents spawn, they explore, they fight, they complete objectives, they unlock the portal, and they evacuate. Every run. Reliably. Second — observability. We want you to be able to watch any agent, see exactly what it's thinking, why it made a decision, and what it plans to do next. This is critical for debugging but it's also what makes the simulation fun to watch. You're not just seeing random movement — you're seeing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heartbeat of WSS2 — the Sense-Decide-Act loop. Every single tick, every agent goes through this cycle. Sense: the Vision module scans the surroundings — what tiles can I see? Are there zombies? Loot? Other survivors? Decide: the Brain module takes all that input and picks an intent — should I run, fight, scavenge, or trade? Act: the agent actually does it — moves, shoots, picks up items, negotiates. This runs 60 times per second. The key innovation is that Sense and Decide are separate modules, so you can swap them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design decisions we've locked in — they're not changing. The simulation runs at 60 ticks per second, which is fast enough for smooth real-time combat. Agents need to complete objectives like activating switches or destroying enemy nests before they can unseal the rift portal and evacuate. Friendly fire is always on, which forces the AI to be smart about positioning. Melee weapons have durability and will break. Guns need to be reloaded, but agents can keep moving while reloading. And the world uses fog of war — agents only see what's in their line of sight, and the team shares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world is procedurally generated — every run is different. We support three map sizes: 30x30 for quick games, 40x40 for standard play, and 60x60 for large-scale simulations with up to 5 survivors. The terrain generator creates biomes, places buildings from a stamp library of 12-20 templates, and scatters loot and enemies. Buildings aren't random boxes — they're weighted by biome type, so you'll find hospitals in urban areas and cabins in forests. Every playthrough gives you a completely new map to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and economy are a big part of survival. Loot is more common indoors than outdoors — buildings have containers and scattered items, while outside is sparser. Agents can also get items from trading with merchants or looting defeated enemies. There's a quality scaling system — loot quality is driven primarily by difficulty level, with a mild bonus for items found farther from spawn. Themed containers add immersion: hospitals drop medical supplies, military buildings drop weapons and ammo. This ties directly into the trading system — an agent might find a health potion but decide to trade it for food because their hunger is more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Combat is real-time at 60 ticks per second. There are three weapon classes: fists, melee weapons, and guns. Melee weapons have durability — they break after enough use, so agents need to manage their arsenal. Guns require reloading, and agents can move while reloading but take a penalty if they get hit. Friendly fire is always on, which forces the AI to be smart about positioning. The weapon system is designed to be expandable — we can add new weapon types without rewriting the combat core. There's also a noise mechanic where loud weapons attract more enemies.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innovation. The brain model runs on a hybrid system — tick-based decisions every frame, with event-driven interrupts for urgent situations like getting shot or spotting a zombie. We have 5 different brain types. Balanced tries to do a bit of everything. Aggressive charges into threats and prioritizes combat. Cautious plays it safe and avoids risk when possible. Survivalist focuses on gathering resources and staying alive. Money-Driven prioritizes gold and trading opportunities. You can configure which brain each agent uses, and you can watch how different brains handle the same situation completely differently. [TRANSITION: Let me switch over to the live demo now and show you this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development plan. We're in Sprint 1 right now — this presentation, the business plan, and the prototype you just saw. Sprint 2 in March is Phase 0, where we build the core architecture — the map system, entity framework, and base AI pipeline. Sprint 3 in April tackles the gameplay loop, the full brain system with all 5 types, and the trading mechanics. Sprint 4 in May is polish — the Director AI that manages difficulty, UI improvements, and our final presentation. For risks — the biggest one is scope creep. We're managing that by locking scope per sprint. AI complexity vs. timeline is real, and it's just the two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know we've succeeded? These are our measurable milestones. A stable core loop running at 60 ticks per second — not crashing, not freezing. AI agents that you can actually watch and understand their decisions. The Vision-Brain architecture working as designed — modular, swappable, testable. All 5 brain types showing genuinely different behavior in the same environment. A functional trading system where agents negotiate with NPCs. And the big one — we already have a working Replit prototype as proof of concept. That's what you just saw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WSS2 — the Wilderness Survival System. To recap: it's a real-time AI survival simulation with procedural worlds, 5 different brain strategies, a full trading economy, and a working prototype you can try right now at wss-revised.replit.app. We're Casey Wong and Raymond Julian, and we're excited to keep building this over the semester.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914400"/>
            <a:ext cx="10972800" cy="914400"/>
          </a:xfrm>
          <a:prstGeom prst="rect">
            <a:avLst/>
          </a:prstGeom>
          <a:noFill/>
          <a:ln/>
        </p:spPr>
        <p:txBody>
          <a:bodyPr wrap="square" rtlCol="0" anchor="ctr"/>
          <a:lstStyle/>
          <a:p>
            <a:pPr algn="ctr" indent="0" marL="0">
              <a:buNone/>
            </a:pPr>
            <a:r>
              <a:rPr lang="en-US" sz="4200" b="1" dirty="0">
                <a:solidFill>
                  <a:srgbClr val="4A9EFF"/>
                </a:solidFill>
                <a:latin typeface="Arial" pitchFamily="34" charset="0"/>
                <a:ea typeface="Arial" pitchFamily="34" charset="-122"/>
                <a:cs typeface="Arial" pitchFamily="34" charset="-120"/>
              </a:rPr>
              <a:t>Wilderness Survival Systems</a:t>
            </a:r>
            <a:endParaRPr lang="en-US" sz="4200" dirty="0"/>
          </a:p>
        </p:txBody>
      </p:sp>
      <p:sp>
        <p:nvSpPr>
          <p:cNvPr id="3" name="Text 1"/>
          <p:cNvSpPr/>
          <p:nvPr/>
        </p:nvSpPr>
        <p:spPr>
          <a:xfrm>
            <a:off x="457200" y="1828800"/>
            <a:ext cx="10972800" cy="731520"/>
          </a:xfrm>
          <a:prstGeom prst="rect">
            <a:avLst/>
          </a:prstGeom>
          <a:noFill/>
          <a:ln/>
        </p:spPr>
        <p:txBody>
          <a:bodyPr wrap="square" rtlCol="0" anchor="ctr"/>
          <a:lstStyle/>
          <a:p>
            <a:pPr algn="ctr" indent="0" marL="0">
              <a:buNone/>
            </a:pPr>
            <a:r>
              <a:rPr lang="en-US" sz="5600" b="1" dirty="0">
                <a:solidFill>
                  <a:srgbClr val="FFFFFF"/>
                </a:solidFill>
                <a:latin typeface="Arial" pitchFamily="34" charset="0"/>
                <a:ea typeface="Arial" pitchFamily="34" charset="-122"/>
                <a:cs typeface="Arial" pitchFamily="34" charset="-120"/>
              </a:rPr>
              <a:t>WSS2</a:t>
            </a:r>
            <a:endParaRPr lang="en-US" sz="5600" dirty="0"/>
          </a:p>
        </p:txBody>
      </p:sp>
      <p:sp>
        <p:nvSpPr>
          <p:cNvPr id="4" name="Text 2"/>
          <p:cNvSpPr/>
          <p:nvPr/>
        </p:nvSpPr>
        <p:spPr>
          <a:xfrm>
            <a:off x="457200" y="2743200"/>
            <a:ext cx="10972800" cy="548640"/>
          </a:xfrm>
          <a:prstGeom prst="rect">
            <a:avLst/>
          </a:prstGeom>
          <a:noFill/>
          <a:ln/>
        </p:spPr>
        <p:txBody>
          <a:bodyPr wrap="square" rtlCol="0" anchor="ctr"/>
          <a:lstStyle/>
          <a:p>
            <a:pPr algn="ctr" indent="0" marL="0">
              <a:buNone/>
            </a:pPr>
            <a:r>
              <a:rPr lang="en-US" sz="2000" dirty="0">
                <a:solidFill>
                  <a:srgbClr val="A0A0B0"/>
                </a:solidFill>
                <a:latin typeface="Arial" pitchFamily="34" charset="0"/>
                <a:ea typeface="Arial" pitchFamily="34" charset="-122"/>
                <a:cs typeface="Arial" pitchFamily="34" charset="-120"/>
              </a:rPr>
              <a:t>Feature-Rich Survival Simulation</a:t>
            </a:r>
            <a:endParaRPr lang="en-US" sz="2000" dirty="0"/>
          </a:p>
        </p:txBody>
      </p:sp>
      <p:sp>
        <p:nvSpPr>
          <p:cNvPr id="5" name="Shape 3"/>
          <p:cNvSpPr/>
          <p:nvPr/>
        </p:nvSpPr>
        <p:spPr>
          <a:xfrm>
            <a:off x="4114800" y="3566160"/>
            <a:ext cx="3657600" cy="36576"/>
          </a:xfrm>
          <a:prstGeom prst="rect">
            <a:avLst/>
          </a:prstGeom>
          <a:solidFill>
            <a:srgbClr val="4A9EFF"/>
          </a:solidFill>
          <a:ln/>
        </p:spPr>
      </p:sp>
      <p:sp>
        <p:nvSpPr>
          <p:cNvPr id="6" name="Text 4"/>
          <p:cNvSpPr/>
          <p:nvPr/>
        </p:nvSpPr>
        <p:spPr>
          <a:xfrm>
            <a:off x="457200" y="3840480"/>
            <a:ext cx="10972800" cy="365760"/>
          </a:xfrm>
          <a:prstGeom prst="rect">
            <a:avLst/>
          </a:prstGeom>
          <a:noFill/>
          <a:ln/>
        </p:spPr>
        <p:txBody>
          <a:bodyPr wrap="square" rtlCol="0" anchor="ctr"/>
          <a:lstStyle/>
          <a:p>
            <a:pPr algn="ctr" indent="0" marL="0">
              <a:buNone/>
            </a:pPr>
            <a:r>
              <a:rPr lang="en-US" sz="1100" dirty="0">
                <a:solidFill>
                  <a:srgbClr val="A0A0B0"/>
                </a:solidFill>
                <a:latin typeface="Arial" pitchFamily="34" charset="0"/>
                <a:ea typeface="Arial" pitchFamily="34" charset="-122"/>
                <a:cs typeface="Arial" pitchFamily="34" charset="-120"/>
              </a:rPr>
              <a:t>PRESENTED BY</a:t>
            </a:r>
            <a:endParaRPr lang="en-US" sz="1100" dirty="0"/>
          </a:p>
        </p:txBody>
      </p:sp>
      <p:sp>
        <p:nvSpPr>
          <p:cNvPr id="7" name="Text 5"/>
          <p:cNvSpPr/>
          <p:nvPr/>
        </p:nvSpPr>
        <p:spPr>
          <a:xfrm>
            <a:off x="457200" y="4206240"/>
            <a:ext cx="10972800" cy="548640"/>
          </a:xfrm>
          <a:prstGeom prst="rect">
            <a:avLst/>
          </a:prstGeom>
          <a:noFill/>
          <a:ln/>
        </p:spPr>
        <p:txBody>
          <a:bodyPr wrap="square" rtlCol="0" anchor="ctr"/>
          <a:lstStyle/>
          <a:p>
            <a:pPr algn="ctr" indent="0" marL="0">
              <a:buNone/>
            </a:pPr>
            <a:r>
              <a:rPr lang="en-US" sz="2200" b="1" dirty="0">
                <a:solidFill>
                  <a:srgbClr val="E0E0E0"/>
                </a:solidFill>
                <a:latin typeface="Arial" pitchFamily="34" charset="0"/>
                <a:ea typeface="Arial" pitchFamily="34" charset="-122"/>
                <a:cs typeface="Arial" pitchFamily="34" charset="-120"/>
              </a:rPr>
              <a:t>Casey Wong</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Executive Pitch</a:t>
            </a:r>
            <a:endParaRPr lang="en-US" sz="2800" dirty="0"/>
          </a:p>
        </p:txBody>
      </p:sp>
      <p:sp>
        <p:nvSpPr>
          <p:cNvPr id="5" name="Shape 2"/>
          <p:cNvSpPr/>
          <p:nvPr/>
        </p:nvSpPr>
        <p:spPr>
          <a:xfrm>
            <a:off x="457200" y="1097280"/>
            <a:ext cx="5303520" cy="4114800"/>
          </a:xfrm>
          <a:prstGeom prst="rect">
            <a:avLst>
              <a:gd name="adj" fmla="val 2222"/>
            </a:avLst>
          </a:prstGeom>
          <a:solidFill>
            <a:srgbClr val="252540"/>
          </a:solidFill>
          <a:ln/>
        </p:spPr>
      </p:sp>
      <p:sp>
        <p:nvSpPr>
          <p:cNvPr id="6" name="Text 3"/>
          <p:cNvSpPr/>
          <p:nvPr/>
        </p:nvSpPr>
        <p:spPr>
          <a:xfrm>
            <a:off x="640080" y="1280160"/>
            <a:ext cx="49377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REAL-TIME SIMULATION</a:t>
            </a:r>
            <a:endParaRPr lang="en-US" sz="1200" dirty="0"/>
          </a:p>
        </p:txBody>
      </p:sp>
      <p:sp>
        <p:nvSpPr>
          <p:cNvPr id="7" name="Text 4"/>
          <p:cNvSpPr/>
          <p:nvPr/>
        </p:nvSpPr>
        <p:spPr>
          <a:xfrm>
            <a:off x="640080" y="1828800"/>
            <a:ext cx="49377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WSS2 offers an engaging real-time multi-agent survival simulation, allowing players to explore, manage resources, and complete objectives while navigating a rich wilderness environment.</a:t>
            </a:r>
            <a:endParaRPr lang="en-US" sz="1300" dirty="0"/>
          </a:p>
        </p:txBody>
      </p:sp>
      <p:sp>
        <p:nvSpPr>
          <p:cNvPr id="8" name="Shape 5"/>
          <p:cNvSpPr/>
          <p:nvPr/>
        </p:nvSpPr>
        <p:spPr>
          <a:xfrm>
            <a:off x="5943600" y="1097280"/>
            <a:ext cx="5303520" cy="4114800"/>
          </a:xfrm>
          <a:prstGeom prst="rect">
            <a:avLst>
              <a:gd name="adj" fmla="val 2222"/>
            </a:avLst>
          </a:prstGeom>
          <a:solidFill>
            <a:srgbClr val="252540"/>
          </a:solidFill>
          <a:ln/>
        </p:spPr>
      </p:sp>
      <p:sp>
        <p:nvSpPr>
          <p:cNvPr id="9" name="Text 6"/>
          <p:cNvSpPr/>
          <p:nvPr/>
        </p:nvSpPr>
        <p:spPr>
          <a:xfrm>
            <a:off x="6126480" y="1280160"/>
            <a:ext cx="49377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MODULAR AI ARCHITECTURE</a:t>
            </a:r>
            <a:endParaRPr lang="en-US" sz="1200" dirty="0"/>
          </a:p>
        </p:txBody>
      </p:sp>
      <p:sp>
        <p:nvSpPr>
          <p:cNvPr id="10" name="Text 7"/>
          <p:cNvSpPr/>
          <p:nvPr/>
        </p:nvSpPr>
        <p:spPr>
          <a:xfrm>
            <a:off x="6126480" y="1828800"/>
            <a:ext cx="49377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The unique modular AI architecture separates perception from decision-making, enabling measurable strategy comparisons and providing deep insights into AI behavior dynamics within the simulation.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Product Goals and Outcomes</a:t>
            </a:r>
            <a:endParaRPr lang="en-US" sz="2800" dirty="0"/>
          </a:p>
        </p:txBody>
      </p:sp>
      <p:sp>
        <p:nvSpPr>
          <p:cNvPr id="5" name="Shape 2"/>
          <p:cNvSpPr/>
          <p:nvPr/>
        </p:nvSpPr>
        <p:spPr>
          <a:xfrm>
            <a:off x="457200" y="1097280"/>
            <a:ext cx="5303520" cy="4114800"/>
          </a:xfrm>
          <a:prstGeom prst="rect">
            <a:avLst>
              <a:gd name="adj" fmla="val 2222"/>
            </a:avLst>
          </a:prstGeom>
          <a:solidFill>
            <a:srgbClr val="252540"/>
          </a:solidFill>
          <a:ln/>
        </p:spPr>
      </p:sp>
      <p:sp>
        <p:nvSpPr>
          <p:cNvPr id="6" name="Text 3"/>
          <p:cNvSpPr/>
          <p:nvPr/>
        </p:nvSpPr>
        <p:spPr>
          <a:xfrm>
            <a:off x="640080" y="1280160"/>
            <a:ext cx="49377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STABLE CORE LOOP</a:t>
            </a:r>
            <a:endParaRPr lang="en-US" sz="1200" dirty="0"/>
          </a:p>
        </p:txBody>
      </p:sp>
      <p:sp>
        <p:nvSpPr>
          <p:cNvPr id="7" name="Text 4"/>
          <p:cNvSpPr/>
          <p:nvPr/>
        </p:nvSpPr>
        <p:spPr>
          <a:xfrm>
            <a:off x="640080" y="1828800"/>
            <a:ext cx="49377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Our primary objective is to deliver a stable, replayable core loop where agents complete objectives, unlock the rift portal, and coordinate their evacuation seamlessly, ensuring engaging gameplay.</a:t>
            </a:r>
            <a:endParaRPr lang="en-US" sz="1300" dirty="0"/>
          </a:p>
        </p:txBody>
      </p:sp>
      <p:sp>
        <p:nvSpPr>
          <p:cNvPr id="8" name="Shape 5"/>
          <p:cNvSpPr/>
          <p:nvPr/>
        </p:nvSpPr>
        <p:spPr>
          <a:xfrm>
            <a:off x="5943600" y="1097280"/>
            <a:ext cx="5303520" cy="4114800"/>
          </a:xfrm>
          <a:prstGeom prst="rect">
            <a:avLst>
              <a:gd name="adj" fmla="val 2222"/>
            </a:avLst>
          </a:prstGeom>
          <a:solidFill>
            <a:srgbClr val="252540"/>
          </a:solidFill>
          <a:ln/>
        </p:spPr>
      </p:sp>
      <p:sp>
        <p:nvSpPr>
          <p:cNvPr id="9" name="Text 6"/>
          <p:cNvSpPr/>
          <p:nvPr/>
        </p:nvSpPr>
        <p:spPr>
          <a:xfrm>
            <a:off x="6126480" y="1280160"/>
            <a:ext cx="49377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OBSERVABLE AI BEHAVIOR</a:t>
            </a:r>
            <a:endParaRPr lang="en-US" sz="1200" dirty="0"/>
          </a:p>
        </p:txBody>
      </p:sp>
      <p:sp>
        <p:nvSpPr>
          <p:cNvPr id="10" name="Text 7"/>
          <p:cNvSpPr/>
          <p:nvPr/>
        </p:nvSpPr>
        <p:spPr>
          <a:xfrm>
            <a:off x="6126480" y="1828800"/>
            <a:ext cx="49377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We aim to make AI behavior observable and debuggable, enabling developers to analyze intent selection and event-driven interrupts, fostering a deeper understanding of AI interactions during gameplay.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End-to-End System Flow Overview</a:t>
            </a:r>
            <a:endParaRPr lang="en-US" sz="2800" dirty="0"/>
          </a:p>
        </p:txBody>
      </p:sp>
      <p:sp>
        <p:nvSpPr>
          <p:cNvPr id="5" name="Shape 2"/>
          <p:cNvSpPr/>
          <p:nvPr/>
        </p:nvSpPr>
        <p:spPr>
          <a:xfrm>
            <a:off x="457200" y="1097280"/>
            <a:ext cx="3474720" cy="4114800"/>
          </a:xfrm>
          <a:prstGeom prst="rect">
            <a:avLst>
              <a:gd name="adj" fmla="val 2632"/>
            </a:avLst>
          </a:prstGeom>
          <a:solidFill>
            <a:srgbClr val="252540"/>
          </a:solidFill>
          <a:ln/>
        </p:spPr>
      </p:sp>
      <p:sp>
        <p:nvSpPr>
          <p:cNvPr id="6" name="Text 3"/>
          <p:cNvSpPr/>
          <p:nvPr/>
        </p:nvSpPr>
        <p:spPr>
          <a:xfrm>
            <a:off x="6400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SENSE</a:t>
            </a:r>
            <a:endParaRPr lang="en-US" sz="1200" dirty="0"/>
          </a:p>
        </p:txBody>
      </p:sp>
      <p:sp>
        <p:nvSpPr>
          <p:cNvPr id="7" name="Text 4"/>
          <p:cNvSpPr/>
          <p:nvPr/>
        </p:nvSpPr>
        <p:spPr>
          <a:xfrm>
            <a:off x="6400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The system begins by updating vision and fog states, detecting threats, loot, traders, and objectives, enabling agents to maintain situational awareness in real-time.</a:t>
            </a:r>
            <a:endParaRPr lang="en-US" sz="1300" dirty="0"/>
          </a:p>
        </p:txBody>
      </p:sp>
      <p:sp>
        <p:nvSpPr>
          <p:cNvPr id="8" name="Shape 5"/>
          <p:cNvSpPr/>
          <p:nvPr/>
        </p:nvSpPr>
        <p:spPr>
          <a:xfrm>
            <a:off x="4114800" y="1097280"/>
            <a:ext cx="3474720" cy="4114800"/>
          </a:xfrm>
          <a:prstGeom prst="rect">
            <a:avLst>
              <a:gd name="adj" fmla="val 2632"/>
            </a:avLst>
          </a:prstGeom>
          <a:solidFill>
            <a:srgbClr val="252540"/>
          </a:solidFill>
          <a:ln/>
        </p:spPr>
      </p:sp>
      <p:sp>
        <p:nvSpPr>
          <p:cNvPr id="9" name="Text 6"/>
          <p:cNvSpPr/>
          <p:nvPr/>
        </p:nvSpPr>
        <p:spPr>
          <a:xfrm>
            <a:off x="42976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DECIDE</a:t>
            </a:r>
            <a:endParaRPr lang="en-US" sz="1200" dirty="0"/>
          </a:p>
        </p:txBody>
      </p:sp>
      <p:sp>
        <p:nvSpPr>
          <p:cNvPr id="10" name="Text 7"/>
          <p:cNvSpPr/>
          <p:nvPr/>
        </p:nvSpPr>
        <p:spPr>
          <a:xfrm>
            <a:off x="42976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Agents evaluate their self-status, goals, and urgency to select intents, while immediate interruptions arise from critical events to ensure quick reactions to changes in the environment.</a:t>
            </a:r>
            <a:endParaRPr lang="en-US" sz="1300" dirty="0"/>
          </a:p>
        </p:txBody>
      </p:sp>
      <p:sp>
        <p:nvSpPr>
          <p:cNvPr id="11" name="Shape 8"/>
          <p:cNvSpPr/>
          <p:nvPr/>
        </p:nvSpPr>
        <p:spPr>
          <a:xfrm>
            <a:off x="7772400" y="1097280"/>
            <a:ext cx="3474720" cy="4114800"/>
          </a:xfrm>
          <a:prstGeom prst="rect">
            <a:avLst>
              <a:gd name="adj" fmla="val 2632"/>
            </a:avLst>
          </a:prstGeom>
          <a:solidFill>
            <a:srgbClr val="252540"/>
          </a:solidFill>
          <a:ln/>
        </p:spPr>
      </p:sp>
      <p:sp>
        <p:nvSpPr>
          <p:cNvPr id="12" name="Text 9"/>
          <p:cNvSpPr/>
          <p:nvPr/>
        </p:nvSpPr>
        <p:spPr>
          <a:xfrm>
            <a:off x="79552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ACT</a:t>
            </a:r>
            <a:endParaRPr lang="en-US" sz="1200" dirty="0"/>
          </a:p>
        </p:txBody>
      </p:sp>
      <p:sp>
        <p:nvSpPr>
          <p:cNvPr id="13" name="Text 10"/>
          <p:cNvSpPr/>
          <p:nvPr/>
        </p:nvSpPr>
        <p:spPr>
          <a:xfrm>
            <a:off x="79552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Agents execute moves, interact, fight, trade, or accomplish objectives, translating decisions into physical actions within the simulation to progress towards survival goals.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Locked Scope</a:t>
            </a:r>
            <a:endParaRPr lang="en-US" sz="2800" dirty="0"/>
          </a:p>
        </p:txBody>
      </p:sp>
      <p:sp>
        <p:nvSpPr>
          <p:cNvPr id="5" name="Shape 2"/>
          <p:cNvSpPr/>
          <p:nvPr/>
        </p:nvSpPr>
        <p:spPr>
          <a:xfrm>
            <a:off x="1371600" y="1097280"/>
            <a:ext cx="9144000" cy="502920"/>
          </a:xfrm>
          <a:prstGeom prst="rect">
            <a:avLst>
              <a:gd name="adj" fmla="val 9091"/>
            </a:avLst>
          </a:prstGeom>
          <a:solidFill>
            <a:srgbClr val="252540"/>
          </a:solidFill>
          <a:ln/>
        </p:spPr>
      </p:sp>
      <p:sp>
        <p:nvSpPr>
          <p:cNvPr id="6" name="Text 3"/>
          <p:cNvSpPr/>
          <p:nvPr/>
        </p:nvSpPr>
        <p:spPr>
          <a:xfrm>
            <a:off x="1554480" y="1097280"/>
            <a:ext cx="3200400" cy="502920"/>
          </a:xfrm>
          <a:prstGeom prst="rect">
            <a:avLst/>
          </a:prstGeom>
          <a:noFill/>
          <a:ln/>
        </p:spPr>
        <p:txBody>
          <a:bodyPr wrap="square" rtlCol="0" anchor="ctr"/>
          <a:lstStyle/>
          <a:p>
            <a:pPr indent="0" marL="0">
              <a:buNone/>
            </a:pPr>
            <a:r>
              <a:rPr lang="en-US" sz="1400" b="1" dirty="0">
                <a:solidFill>
                  <a:srgbClr val="4A9EFF"/>
                </a:solidFill>
                <a:latin typeface="Arial" pitchFamily="34" charset="0"/>
                <a:ea typeface="Arial" pitchFamily="34" charset="-122"/>
                <a:cs typeface="Arial" pitchFamily="34" charset="-120"/>
              </a:rPr>
              <a:t>60 ticks per second</a:t>
            </a:r>
            <a:endParaRPr lang="en-US" sz="1400" dirty="0"/>
          </a:p>
        </p:txBody>
      </p:sp>
      <p:sp>
        <p:nvSpPr>
          <p:cNvPr id="7" name="Text 4"/>
          <p:cNvSpPr/>
          <p:nvPr/>
        </p:nvSpPr>
        <p:spPr>
          <a:xfrm>
            <a:off x="4754880" y="1097280"/>
            <a:ext cx="5486400" cy="502920"/>
          </a:xfrm>
          <a:prstGeom prst="rect">
            <a:avLst/>
          </a:prstGeom>
          <a:noFill/>
          <a:ln/>
        </p:spPr>
        <p:txBody>
          <a:bodyPr wrap="square" rtlCol="0" anchor="ctr"/>
          <a:lstStyle/>
          <a:p>
            <a:pPr indent="0" marL="0">
              <a:buNone/>
            </a:pPr>
            <a:r>
              <a:rPr lang="en-US" sz="1300" dirty="0">
                <a:solidFill>
                  <a:srgbClr val="E0E0E0"/>
                </a:solidFill>
                <a:latin typeface="Arial" pitchFamily="34" charset="0"/>
                <a:ea typeface="Arial" pitchFamily="34" charset="-122"/>
                <a:cs typeface="Arial" pitchFamily="34" charset="-120"/>
              </a:rPr>
              <a:t>Real-time combat and movement</a:t>
            </a:r>
            <a:endParaRPr lang="en-US" sz="1300" dirty="0"/>
          </a:p>
        </p:txBody>
      </p:sp>
      <p:sp>
        <p:nvSpPr>
          <p:cNvPr id="8" name="Shape 5"/>
          <p:cNvSpPr/>
          <p:nvPr/>
        </p:nvSpPr>
        <p:spPr>
          <a:xfrm>
            <a:off x="1371600" y="1691640"/>
            <a:ext cx="9144000" cy="502920"/>
          </a:xfrm>
          <a:prstGeom prst="rect">
            <a:avLst>
              <a:gd name="adj" fmla="val 9091"/>
            </a:avLst>
          </a:prstGeom>
          <a:solidFill>
            <a:srgbClr val="252540"/>
          </a:solidFill>
          <a:ln/>
        </p:spPr>
      </p:sp>
      <p:sp>
        <p:nvSpPr>
          <p:cNvPr id="9" name="Text 6"/>
          <p:cNvSpPr/>
          <p:nvPr/>
        </p:nvSpPr>
        <p:spPr>
          <a:xfrm>
            <a:off x="1554480" y="1691640"/>
            <a:ext cx="3200400" cy="502920"/>
          </a:xfrm>
          <a:prstGeom prst="rect">
            <a:avLst/>
          </a:prstGeom>
          <a:noFill/>
          <a:ln/>
        </p:spPr>
        <p:txBody>
          <a:bodyPr wrap="square" rtlCol="0" anchor="ctr"/>
          <a:lstStyle/>
          <a:p>
            <a:pPr indent="0" marL="0">
              <a:buNone/>
            </a:pPr>
            <a:r>
              <a:rPr lang="en-US" sz="1400" b="1" dirty="0">
                <a:solidFill>
                  <a:srgbClr val="4A9EFF"/>
                </a:solidFill>
                <a:latin typeface="Arial" pitchFamily="34" charset="0"/>
                <a:ea typeface="Arial" pitchFamily="34" charset="-122"/>
                <a:cs typeface="Arial" pitchFamily="34" charset="-120"/>
              </a:rPr>
              <a:t>Rift Portal evacuation</a:t>
            </a:r>
            <a:endParaRPr lang="en-US" sz="1400" dirty="0"/>
          </a:p>
        </p:txBody>
      </p:sp>
      <p:sp>
        <p:nvSpPr>
          <p:cNvPr id="10" name="Text 7"/>
          <p:cNvSpPr/>
          <p:nvPr/>
        </p:nvSpPr>
        <p:spPr>
          <a:xfrm>
            <a:off x="4754880" y="1691640"/>
            <a:ext cx="5486400" cy="502920"/>
          </a:xfrm>
          <a:prstGeom prst="rect">
            <a:avLst/>
          </a:prstGeom>
          <a:noFill/>
          <a:ln/>
        </p:spPr>
        <p:txBody>
          <a:bodyPr wrap="square" rtlCol="0" anchor="ctr"/>
          <a:lstStyle/>
          <a:p>
            <a:pPr indent="0" marL="0">
              <a:buNone/>
            </a:pPr>
            <a:r>
              <a:rPr lang="en-US" sz="1300" dirty="0">
                <a:solidFill>
                  <a:srgbClr val="E0E0E0"/>
                </a:solidFill>
                <a:latin typeface="Arial" pitchFamily="34" charset="0"/>
                <a:ea typeface="Arial" pitchFamily="34" charset="-122"/>
                <a:cs typeface="Arial" pitchFamily="34" charset="-120"/>
              </a:rPr>
              <a:t>Complete objectives to unseal the exit and evacuate</a:t>
            </a:r>
            <a:endParaRPr lang="en-US" sz="1300" dirty="0"/>
          </a:p>
        </p:txBody>
      </p:sp>
      <p:sp>
        <p:nvSpPr>
          <p:cNvPr id="11" name="Shape 8"/>
          <p:cNvSpPr/>
          <p:nvPr/>
        </p:nvSpPr>
        <p:spPr>
          <a:xfrm>
            <a:off x="1371600" y="2286000"/>
            <a:ext cx="9144000" cy="502920"/>
          </a:xfrm>
          <a:prstGeom prst="rect">
            <a:avLst>
              <a:gd name="adj" fmla="val 9091"/>
            </a:avLst>
          </a:prstGeom>
          <a:solidFill>
            <a:srgbClr val="252540"/>
          </a:solidFill>
          <a:ln/>
        </p:spPr>
      </p:sp>
      <p:sp>
        <p:nvSpPr>
          <p:cNvPr id="12" name="Text 9"/>
          <p:cNvSpPr/>
          <p:nvPr/>
        </p:nvSpPr>
        <p:spPr>
          <a:xfrm>
            <a:off x="1554480" y="2286000"/>
            <a:ext cx="3200400" cy="502920"/>
          </a:xfrm>
          <a:prstGeom prst="rect">
            <a:avLst/>
          </a:prstGeom>
          <a:noFill/>
          <a:ln/>
        </p:spPr>
        <p:txBody>
          <a:bodyPr wrap="square" rtlCol="0" anchor="ctr"/>
          <a:lstStyle/>
          <a:p>
            <a:pPr indent="0" marL="0">
              <a:buNone/>
            </a:pPr>
            <a:r>
              <a:rPr lang="en-US" sz="1400" b="1" dirty="0">
                <a:solidFill>
                  <a:srgbClr val="4A9EFF"/>
                </a:solidFill>
                <a:latin typeface="Arial" pitchFamily="34" charset="0"/>
                <a:ea typeface="Arial" pitchFamily="34" charset="-122"/>
                <a:cs typeface="Arial" pitchFamily="34" charset="-120"/>
              </a:rPr>
              <a:t>Friendly fire ON</a:t>
            </a:r>
            <a:endParaRPr lang="en-US" sz="1400" dirty="0"/>
          </a:p>
        </p:txBody>
      </p:sp>
      <p:sp>
        <p:nvSpPr>
          <p:cNvPr id="13" name="Text 10"/>
          <p:cNvSpPr/>
          <p:nvPr/>
        </p:nvSpPr>
        <p:spPr>
          <a:xfrm>
            <a:off x="4754880" y="2286000"/>
            <a:ext cx="5486400" cy="502920"/>
          </a:xfrm>
          <a:prstGeom prst="rect">
            <a:avLst/>
          </a:prstGeom>
          <a:noFill/>
          <a:ln/>
        </p:spPr>
        <p:txBody>
          <a:bodyPr wrap="square" rtlCol="0" anchor="ctr"/>
          <a:lstStyle/>
          <a:p>
            <a:pPr indent="0" marL="0">
              <a:buNone/>
            </a:pPr>
            <a:r>
              <a:rPr lang="en-US" sz="1300" dirty="0">
                <a:solidFill>
                  <a:srgbClr val="E0E0E0"/>
                </a:solidFill>
                <a:latin typeface="Arial" pitchFamily="34" charset="0"/>
                <a:ea typeface="Arial" pitchFamily="34" charset="-122"/>
                <a:cs typeface="Arial" pitchFamily="34" charset="-120"/>
              </a:rPr>
              <a:t>Full damage to allies forces smart AI positioning</a:t>
            </a:r>
            <a:endParaRPr lang="en-US" sz="1300" dirty="0"/>
          </a:p>
        </p:txBody>
      </p:sp>
      <p:sp>
        <p:nvSpPr>
          <p:cNvPr id="14" name="Shape 11"/>
          <p:cNvSpPr/>
          <p:nvPr/>
        </p:nvSpPr>
        <p:spPr>
          <a:xfrm>
            <a:off x="1371600" y="2880360"/>
            <a:ext cx="9144000" cy="502920"/>
          </a:xfrm>
          <a:prstGeom prst="rect">
            <a:avLst>
              <a:gd name="adj" fmla="val 9091"/>
            </a:avLst>
          </a:prstGeom>
          <a:solidFill>
            <a:srgbClr val="252540"/>
          </a:solidFill>
          <a:ln/>
        </p:spPr>
      </p:sp>
      <p:sp>
        <p:nvSpPr>
          <p:cNvPr id="15" name="Text 12"/>
          <p:cNvSpPr/>
          <p:nvPr/>
        </p:nvSpPr>
        <p:spPr>
          <a:xfrm>
            <a:off x="1554480" y="2880360"/>
            <a:ext cx="3200400" cy="502920"/>
          </a:xfrm>
          <a:prstGeom prst="rect">
            <a:avLst/>
          </a:prstGeom>
          <a:noFill/>
          <a:ln/>
        </p:spPr>
        <p:txBody>
          <a:bodyPr wrap="square" rtlCol="0" anchor="ctr"/>
          <a:lstStyle/>
          <a:p>
            <a:pPr indent="0" marL="0">
              <a:buNone/>
            </a:pPr>
            <a:r>
              <a:rPr lang="en-US" sz="1400" b="1" dirty="0">
                <a:solidFill>
                  <a:srgbClr val="4A9EFF"/>
                </a:solidFill>
                <a:latin typeface="Arial" pitchFamily="34" charset="0"/>
                <a:ea typeface="Arial" pitchFamily="34" charset="-122"/>
                <a:cs typeface="Arial" pitchFamily="34" charset="-120"/>
              </a:rPr>
              <a:t>Melee durability</a:t>
            </a:r>
            <a:endParaRPr lang="en-US" sz="1400" dirty="0"/>
          </a:p>
        </p:txBody>
      </p:sp>
      <p:sp>
        <p:nvSpPr>
          <p:cNvPr id="16" name="Text 13"/>
          <p:cNvSpPr/>
          <p:nvPr/>
        </p:nvSpPr>
        <p:spPr>
          <a:xfrm>
            <a:off x="4754880" y="2880360"/>
            <a:ext cx="5486400" cy="502920"/>
          </a:xfrm>
          <a:prstGeom prst="rect">
            <a:avLst/>
          </a:prstGeom>
          <a:noFill/>
          <a:ln/>
        </p:spPr>
        <p:txBody>
          <a:bodyPr wrap="square" rtlCol="0" anchor="ctr"/>
          <a:lstStyle/>
          <a:p>
            <a:pPr indent="0" marL="0">
              <a:buNone/>
            </a:pPr>
            <a:r>
              <a:rPr lang="en-US" sz="1300" dirty="0">
                <a:solidFill>
                  <a:srgbClr val="E0E0E0"/>
                </a:solidFill>
                <a:latin typeface="Arial" pitchFamily="34" charset="0"/>
                <a:ea typeface="Arial" pitchFamily="34" charset="-122"/>
                <a:cs typeface="Arial" pitchFamily="34" charset="-120"/>
              </a:rPr>
              <a:t>Weapons break after use, requiring resource management</a:t>
            </a:r>
            <a:endParaRPr lang="en-US" sz="1300" dirty="0"/>
          </a:p>
        </p:txBody>
      </p:sp>
      <p:sp>
        <p:nvSpPr>
          <p:cNvPr id="17" name="Shape 14"/>
          <p:cNvSpPr/>
          <p:nvPr/>
        </p:nvSpPr>
        <p:spPr>
          <a:xfrm>
            <a:off x="1371600" y="3474720"/>
            <a:ext cx="9144000" cy="502920"/>
          </a:xfrm>
          <a:prstGeom prst="rect">
            <a:avLst>
              <a:gd name="adj" fmla="val 9091"/>
            </a:avLst>
          </a:prstGeom>
          <a:solidFill>
            <a:srgbClr val="252540"/>
          </a:solidFill>
          <a:ln/>
        </p:spPr>
      </p:sp>
      <p:sp>
        <p:nvSpPr>
          <p:cNvPr id="18" name="Text 15"/>
          <p:cNvSpPr/>
          <p:nvPr/>
        </p:nvSpPr>
        <p:spPr>
          <a:xfrm>
            <a:off x="1554480" y="3474720"/>
            <a:ext cx="3200400" cy="502920"/>
          </a:xfrm>
          <a:prstGeom prst="rect">
            <a:avLst/>
          </a:prstGeom>
          <a:noFill/>
          <a:ln/>
        </p:spPr>
        <p:txBody>
          <a:bodyPr wrap="square" rtlCol="0" anchor="ctr"/>
          <a:lstStyle/>
          <a:p>
            <a:pPr indent="0" marL="0">
              <a:buNone/>
            </a:pPr>
            <a:r>
              <a:rPr lang="en-US" sz="1400" b="1" dirty="0">
                <a:solidFill>
                  <a:srgbClr val="4A9EFF"/>
                </a:solidFill>
                <a:latin typeface="Arial" pitchFamily="34" charset="0"/>
                <a:ea typeface="Arial" pitchFamily="34" charset="-122"/>
                <a:cs typeface="Arial" pitchFamily="34" charset="-120"/>
              </a:rPr>
              <a:t>Reload mechanics</a:t>
            </a:r>
            <a:endParaRPr lang="en-US" sz="1400" dirty="0"/>
          </a:p>
        </p:txBody>
      </p:sp>
      <p:sp>
        <p:nvSpPr>
          <p:cNvPr id="19" name="Text 16"/>
          <p:cNvSpPr/>
          <p:nvPr/>
        </p:nvSpPr>
        <p:spPr>
          <a:xfrm>
            <a:off x="4754880" y="3474720"/>
            <a:ext cx="5486400" cy="502920"/>
          </a:xfrm>
          <a:prstGeom prst="rect">
            <a:avLst/>
          </a:prstGeom>
          <a:noFill/>
          <a:ln/>
        </p:spPr>
        <p:txBody>
          <a:bodyPr wrap="square" rtlCol="0" anchor="ctr"/>
          <a:lstStyle/>
          <a:p>
            <a:pPr indent="0" marL="0">
              <a:buNone/>
            </a:pPr>
            <a:r>
              <a:rPr lang="en-US" sz="1300" dirty="0">
                <a:solidFill>
                  <a:srgbClr val="E0E0E0"/>
                </a:solidFill>
                <a:latin typeface="Arial" pitchFamily="34" charset="0"/>
                <a:ea typeface="Arial" pitchFamily="34" charset="-122"/>
                <a:cs typeface="Arial" pitchFamily="34" charset="-120"/>
              </a:rPr>
              <a:t>Guns have reload times; agents can move during reloads</a:t>
            </a:r>
            <a:endParaRPr lang="en-US" sz="1300" dirty="0"/>
          </a:p>
        </p:txBody>
      </p:sp>
      <p:sp>
        <p:nvSpPr>
          <p:cNvPr id="20" name="Shape 17"/>
          <p:cNvSpPr/>
          <p:nvPr/>
        </p:nvSpPr>
        <p:spPr>
          <a:xfrm>
            <a:off x="1371600" y="4069080"/>
            <a:ext cx="9144000" cy="502920"/>
          </a:xfrm>
          <a:prstGeom prst="rect">
            <a:avLst>
              <a:gd name="adj" fmla="val 9091"/>
            </a:avLst>
          </a:prstGeom>
          <a:solidFill>
            <a:srgbClr val="252540"/>
          </a:solidFill>
          <a:ln/>
        </p:spPr>
      </p:sp>
      <p:sp>
        <p:nvSpPr>
          <p:cNvPr id="21" name="Text 18"/>
          <p:cNvSpPr/>
          <p:nvPr/>
        </p:nvSpPr>
        <p:spPr>
          <a:xfrm>
            <a:off x="1554480" y="4069080"/>
            <a:ext cx="3200400" cy="502920"/>
          </a:xfrm>
          <a:prstGeom prst="rect">
            <a:avLst/>
          </a:prstGeom>
          <a:noFill/>
          <a:ln/>
        </p:spPr>
        <p:txBody>
          <a:bodyPr wrap="square" rtlCol="0" anchor="ctr"/>
          <a:lstStyle/>
          <a:p>
            <a:pPr indent="0" marL="0">
              <a:buNone/>
            </a:pPr>
            <a:r>
              <a:rPr lang="en-US" sz="1400" b="1" dirty="0">
                <a:solidFill>
                  <a:srgbClr val="4A9EFF"/>
                </a:solidFill>
                <a:latin typeface="Arial" pitchFamily="34" charset="0"/>
                <a:ea typeface="Arial" pitchFamily="34" charset="-122"/>
                <a:cs typeface="Arial" pitchFamily="34" charset="-120"/>
              </a:rPr>
              <a:t>Sub-tile movement</a:t>
            </a:r>
            <a:endParaRPr lang="en-US" sz="1400" dirty="0"/>
          </a:p>
        </p:txBody>
      </p:sp>
      <p:sp>
        <p:nvSpPr>
          <p:cNvPr id="22" name="Text 19"/>
          <p:cNvSpPr/>
          <p:nvPr/>
        </p:nvSpPr>
        <p:spPr>
          <a:xfrm>
            <a:off x="4754880" y="4069080"/>
            <a:ext cx="5486400" cy="502920"/>
          </a:xfrm>
          <a:prstGeom prst="rect">
            <a:avLst/>
          </a:prstGeom>
          <a:noFill/>
          <a:ln/>
        </p:spPr>
        <p:txBody>
          <a:bodyPr wrap="square" rtlCol="0" anchor="ctr"/>
          <a:lstStyle/>
          <a:p>
            <a:pPr indent="0" marL="0">
              <a:buNone/>
            </a:pPr>
            <a:r>
              <a:rPr lang="en-US" sz="1300" dirty="0">
                <a:solidFill>
                  <a:srgbClr val="E0E0E0"/>
                </a:solidFill>
                <a:latin typeface="Arial" pitchFamily="34" charset="0"/>
                <a:ea typeface="Arial" pitchFamily="34" charset="-122"/>
                <a:cs typeface="Arial" pitchFamily="34" charset="-120"/>
              </a:rPr>
              <a:t>Grid-based world with smooth entity positioning</a:t>
            </a:r>
            <a:endParaRPr lang="en-US" sz="1300" dirty="0"/>
          </a:p>
        </p:txBody>
      </p:sp>
      <p:sp>
        <p:nvSpPr>
          <p:cNvPr id="23" name="Shape 20"/>
          <p:cNvSpPr/>
          <p:nvPr/>
        </p:nvSpPr>
        <p:spPr>
          <a:xfrm>
            <a:off x="1371600" y="4663440"/>
            <a:ext cx="9144000" cy="502920"/>
          </a:xfrm>
          <a:prstGeom prst="rect">
            <a:avLst>
              <a:gd name="adj" fmla="val 9091"/>
            </a:avLst>
          </a:prstGeom>
          <a:solidFill>
            <a:srgbClr val="252540"/>
          </a:solidFill>
          <a:ln/>
        </p:spPr>
      </p:sp>
      <p:sp>
        <p:nvSpPr>
          <p:cNvPr id="24" name="Text 21"/>
          <p:cNvSpPr/>
          <p:nvPr/>
        </p:nvSpPr>
        <p:spPr>
          <a:xfrm>
            <a:off x="1554480" y="4663440"/>
            <a:ext cx="3200400" cy="502920"/>
          </a:xfrm>
          <a:prstGeom prst="rect">
            <a:avLst/>
          </a:prstGeom>
          <a:noFill/>
          <a:ln/>
        </p:spPr>
        <p:txBody>
          <a:bodyPr wrap="square" rtlCol="0" anchor="ctr"/>
          <a:lstStyle/>
          <a:p>
            <a:pPr indent="0" marL="0">
              <a:buNone/>
            </a:pPr>
            <a:r>
              <a:rPr lang="en-US" sz="1400" b="1" dirty="0">
                <a:solidFill>
                  <a:srgbClr val="4A9EFF"/>
                </a:solidFill>
                <a:latin typeface="Arial" pitchFamily="34" charset="0"/>
                <a:ea typeface="Arial" pitchFamily="34" charset="-122"/>
                <a:cs typeface="Arial" pitchFamily="34" charset="-120"/>
              </a:rPr>
              <a:t>Fog of war</a:t>
            </a:r>
            <a:endParaRPr lang="en-US" sz="1400" dirty="0"/>
          </a:p>
        </p:txBody>
      </p:sp>
      <p:sp>
        <p:nvSpPr>
          <p:cNvPr id="25" name="Text 22"/>
          <p:cNvSpPr/>
          <p:nvPr/>
        </p:nvSpPr>
        <p:spPr>
          <a:xfrm>
            <a:off x="4754880" y="4663440"/>
            <a:ext cx="5486400" cy="502920"/>
          </a:xfrm>
          <a:prstGeom prst="rect">
            <a:avLst/>
          </a:prstGeom>
          <a:noFill/>
          <a:ln/>
        </p:spPr>
        <p:txBody>
          <a:bodyPr wrap="square" rtlCol="0" anchor="ctr"/>
          <a:lstStyle/>
          <a:p>
            <a:pPr indent="0" marL="0">
              <a:buNone/>
            </a:pPr>
            <a:r>
              <a:rPr lang="en-US" sz="1300" dirty="0">
                <a:solidFill>
                  <a:srgbClr val="E0E0E0"/>
                </a:solidFill>
                <a:latin typeface="Arial" pitchFamily="34" charset="0"/>
                <a:ea typeface="Arial" pitchFamily="34" charset="-122"/>
                <a:cs typeface="Arial" pitchFamily="34" charset="-120"/>
              </a:rPr>
              <a:t>Shared team vision with fog mechanics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World and Map Design</a:t>
            </a:r>
            <a:endParaRPr lang="en-US" sz="2800" dirty="0"/>
          </a:p>
        </p:txBody>
      </p:sp>
      <p:sp>
        <p:nvSpPr>
          <p:cNvPr id="5" name="Shape 2"/>
          <p:cNvSpPr/>
          <p:nvPr/>
        </p:nvSpPr>
        <p:spPr>
          <a:xfrm>
            <a:off x="457200" y="1097280"/>
            <a:ext cx="5303520" cy="4114800"/>
          </a:xfrm>
          <a:prstGeom prst="rect">
            <a:avLst>
              <a:gd name="adj" fmla="val 2222"/>
            </a:avLst>
          </a:prstGeom>
          <a:solidFill>
            <a:srgbClr val="252540"/>
          </a:solidFill>
          <a:ln/>
        </p:spPr>
      </p:sp>
      <p:sp>
        <p:nvSpPr>
          <p:cNvPr id="6" name="Text 3"/>
          <p:cNvSpPr/>
          <p:nvPr/>
        </p:nvSpPr>
        <p:spPr>
          <a:xfrm>
            <a:off x="640080" y="1280160"/>
            <a:ext cx="49377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CONFIGURABLE MAP SIZES</a:t>
            </a:r>
            <a:endParaRPr lang="en-US" sz="1200" dirty="0"/>
          </a:p>
        </p:txBody>
      </p:sp>
      <p:sp>
        <p:nvSpPr>
          <p:cNvPr id="7" name="Text 4"/>
          <p:cNvSpPr/>
          <p:nvPr/>
        </p:nvSpPr>
        <p:spPr>
          <a:xfrm>
            <a:off x="640080" y="1828800"/>
            <a:ext cx="49377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WSS2 offers flexible map sizes of 30x30, 40x40, and 60x60 grids, accommodating varying survivor counts from 1 to 5. This allows for tailored gameplay experiences.</a:t>
            </a:r>
            <a:endParaRPr lang="en-US" sz="1300" dirty="0"/>
          </a:p>
        </p:txBody>
      </p:sp>
      <p:sp>
        <p:nvSpPr>
          <p:cNvPr id="8" name="Shape 5"/>
          <p:cNvSpPr/>
          <p:nvPr/>
        </p:nvSpPr>
        <p:spPr>
          <a:xfrm>
            <a:off x="5943600" y="1097280"/>
            <a:ext cx="5303520" cy="4114800"/>
          </a:xfrm>
          <a:prstGeom prst="rect">
            <a:avLst>
              <a:gd name="adj" fmla="val 2222"/>
            </a:avLst>
          </a:prstGeom>
          <a:solidFill>
            <a:srgbClr val="252540"/>
          </a:solidFill>
          <a:ln/>
        </p:spPr>
      </p:sp>
      <p:sp>
        <p:nvSpPr>
          <p:cNvPr id="9" name="Text 6"/>
          <p:cNvSpPr/>
          <p:nvPr/>
        </p:nvSpPr>
        <p:spPr>
          <a:xfrm>
            <a:off x="6126480" y="1280160"/>
            <a:ext cx="49377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PROCEDURAL GENERATION</a:t>
            </a:r>
            <a:endParaRPr lang="en-US" sz="1200" dirty="0"/>
          </a:p>
        </p:txBody>
      </p:sp>
      <p:sp>
        <p:nvSpPr>
          <p:cNvPr id="10" name="Text 7"/>
          <p:cNvSpPr/>
          <p:nvPr/>
        </p:nvSpPr>
        <p:spPr>
          <a:xfrm>
            <a:off x="6126480" y="1828800"/>
            <a:ext cx="49377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The game leverages procedural generation techniques for terrain, buildings, and loot placements, ensuring unique environments for each playthrough while enhancing immersion and replayability.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Loot, Economy, and Progression</a:t>
            </a:r>
            <a:endParaRPr lang="en-US" sz="2800" dirty="0"/>
          </a:p>
        </p:txBody>
      </p:sp>
      <p:sp>
        <p:nvSpPr>
          <p:cNvPr id="5" name="Shape 2"/>
          <p:cNvSpPr/>
          <p:nvPr/>
        </p:nvSpPr>
        <p:spPr>
          <a:xfrm>
            <a:off x="457200" y="1097280"/>
            <a:ext cx="3474720" cy="4114800"/>
          </a:xfrm>
          <a:prstGeom prst="rect">
            <a:avLst>
              <a:gd name="adj" fmla="val 2632"/>
            </a:avLst>
          </a:prstGeom>
          <a:solidFill>
            <a:srgbClr val="252540"/>
          </a:solidFill>
          <a:ln/>
        </p:spPr>
      </p:sp>
      <p:sp>
        <p:nvSpPr>
          <p:cNvPr id="6" name="Text 3"/>
          <p:cNvSpPr/>
          <p:nvPr/>
        </p:nvSpPr>
        <p:spPr>
          <a:xfrm>
            <a:off x="6400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LOOT DISTRIBUTION</a:t>
            </a:r>
            <a:endParaRPr lang="en-US" sz="1200" dirty="0"/>
          </a:p>
        </p:txBody>
      </p:sp>
      <p:sp>
        <p:nvSpPr>
          <p:cNvPr id="7" name="Text 4"/>
          <p:cNvSpPr/>
          <p:nvPr/>
        </p:nvSpPr>
        <p:spPr>
          <a:xfrm>
            <a:off x="6400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Loot is strategically clustered in buildings and limited outdoor spawns, allowing agents to explore and gather resources efficiently while increasing the thrill of discovery.</a:t>
            </a:r>
            <a:endParaRPr lang="en-US" sz="1300" dirty="0"/>
          </a:p>
        </p:txBody>
      </p:sp>
      <p:sp>
        <p:nvSpPr>
          <p:cNvPr id="8" name="Shape 5"/>
          <p:cNvSpPr/>
          <p:nvPr/>
        </p:nvSpPr>
        <p:spPr>
          <a:xfrm>
            <a:off x="4114800" y="1097280"/>
            <a:ext cx="3474720" cy="4114800"/>
          </a:xfrm>
          <a:prstGeom prst="rect">
            <a:avLst>
              <a:gd name="adj" fmla="val 2632"/>
            </a:avLst>
          </a:prstGeom>
          <a:solidFill>
            <a:srgbClr val="252540"/>
          </a:solidFill>
          <a:ln/>
        </p:spPr>
      </p:sp>
      <p:sp>
        <p:nvSpPr>
          <p:cNvPr id="9" name="Text 6"/>
          <p:cNvSpPr/>
          <p:nvPr/>
        </p:nvSpPr>
        <p:spPr>
          <a:xfrm>
            <a:off x="42976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LOOT SOURCES</a:t>
            </a:r>
            <a:endParaRPr lang="en-US" sz="1200" dirty="0"/>
          </a:p>
        </p:txBody>
      </p:sp>
      <p:sp>
        <p:nvSpPr>
          <p:cNvPr id="10" name="Text 7"/>
          <p:cNvSpPr/>
          <p:nvPr/>
        </p:nvSpPr>
        <p:spPr>
          <a:xfrm>
            <a:off x="42976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Loot is generated from pre-placed sources within the environment and drops from defeated human enemies, ensuring a dynamic and rewarding collection experience.</a:t>
            </a:r>
            <a:endParaRPr lang="en-US" sz="1300" dirty="0"/>
          </a:p>
        </p:txBody>
      </p:sp>
      <p:sp>
        <p:nvSpPr>
          <p:cNvPr id="11" name="Shape 8"/>
          <p:cNvSpPr/>
          <p:nvPr/>
        </p:nvSpPr>
        <p:spPr>
          <a:xfrm>
            <a:off x="7772400" y="1097280"/>
            <a:ext cx="3474720" cy="4114800"/>
          </a:xfrm>
          <a:prstGeom prst="rect">
            <a:avLst>
              <a:gd name="adj" fmla="val 2632"/>
            </a:avLst>
          </a:prstGeom>
          <a:solidFill>
            <a:srgbClr val="252540"/>
          </a:solidFill>
          <a:ln/>
        </p:spPr>
      </p:sp>
      <p:sp>
        <p:nvSpPr>
          <p:cNvPr id="12" name="Text 9"/>
          <p:cNvSpPr/>
          <p:nvPr/>
        </p:nvSpPr>
        <p:spPr>
          <a:xfrm>
            <a:off x="79552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QUALITY SCALES</a:t>
            </a:r>
            <a:endParaRPr lang="en-US" sz="1200" dirty="0"/>
          </a:p>
        </p:txBody>
      </p:sp>
      <p:sp>
        <p:nvSpPr>
          <p:cNvPr id="13" name="Text 10"/>
          <p:cNvSpPr/>
          <p:nvPr/>
        </p:nvSpPr>
        <p:spPr>
          <a:xfrm>
            <a:off x="79552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The quality of loot scales with difficulty levels, featuring themed containers that enhance immersion, such as medical vs military supplies.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Combat Mechanics and Weaponry</a:t>
            </a:r>
            <a:endParaRPr lang="en-US" sz="2800" dirty="0"/>
          </a:p>
        </p:txBody>
      </p:sp>
      <p:sp>
        <p:nvSpPr>
          <p:cNvPr id="5" name="Shape 2"/>
          <p:cNvSpPr/>
          <p:nvPr/>
        </p:nvSpPr>
        <p:spPr>
          <a:xfrm>
            <a:off x="457200" y="1097280"/>
            <a:ext cx="3474720" cy="4114800"/>
          </a:xfrm>
          <a:prstGeom prst="rect">
            <a:avLst>
              <a:gd name="adj" fmla="val 2632"/>
            </a:avLst>
          </a:prstGeom>
          <a:solidFill>
            <a:srgbClr val="252540"/>
          </a:solidFill>
          <a:ln/>
        </p:spPr>
      </p:sp>
      <p:sp>
        <p:nvSpPr>
          <p:cNvPr id="6" name="Text 3"/>
          <p:cNvSpPr/>
          <p:nvPr/>
        </p:nvSpPr>
        <p:spPr>
          <a:xfrm>
            <a:off x="6400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WEAPONS</a:t>
            </a:r>
            <a:endParaRPr lang="en-US" sz="1200" dirty="0"/>
          </a:p>
        </p:txBody>
      </p:sp>
      <p:sp>
        <p:nvSpPr>
          <p:cNvPr id="7" name="Text 4"/>
          <p:cNvSpPr/>
          <p:nvPr/>
        </p:nvSpPr>
        <p:spPr>
          <a:xfrm>
            <a:off x="6400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The game features a diverse arsenal with melee and ranged weapons, incorporating durability mechanics for realism and strategy in combat scenarios.</a:t>
            </a:r>
            <a:endParaRPr lang="en-US" sz="1300" dirty="0"/>
          </a:p>
        </p:txBody>
      </p:sp>
      <p:sp>
        <p:nvSpPr>
          <p:cNvPr id="8" name="Shape 5"/>
          <p:cNvSpPr/>
          <p:nvPr/>
        </p:nvSpPr>
        <p:spPr>
          <a:xfrm>
            <a:off x="4114800" y="1097280"/>
            <a:ext cx="3474720" cy="4114800"/>
          </a:xfrm>
          <a:prstGeom prst="rect">
            <a:avLst>
              <a:gd name="adj" fmla="val 2632"/>
            </a:avLst>
          </a:prstGeom>
          <a:solidFill>
            <a:srgbClr val="252540"/>
          </a:solidFill>
          <a:ln/>
        </p:spPr>
      </p:sp>
      <p:sp>
        <p:nvSpPr>
          <p:cNvPr id="9" name="Text 6"/>
          <p:cNvSpPr/>
          <p:nvPr/>
        </p:nvSpPr>
        <p:spPr>
          <a:xfrm>
            <a:off x="42976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FRIENDLY FIRE</a:t>
            </a:r>
            <a:endParaRPr lang="en-US" sz="1200" dirty="0"/>
          </a:p>
        </p:txBody>
      </p:sp>
      <p:sp>
        <p:nvSpPr>
          <p:cNvPr id="10" name="Text 7"/>
          <p:cNvSpPr/>
          <p:nvPr/>
        </p:nvSpPr>
        <p:spPr>
          <a:xfrm>
            <a:off x="42976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Friendly fire mechanics encourage teamwork and coordination among agents, as positioning becomes crucial to avoid unintended damage during intense encounters.</a:t>
            </a:r>
            <a:endParaRPr lang="en-US" sz="1300" dirty="0"/>
          </a:p>
        </p:txBody>
      </p:sp>
      <p:sp>
        <p:nvSpPr>
          <p:cNvPr id="11" name="Shape 8"/>
          <p:cNvSpPr/>
          <p:nvPr/>
        </p:nvSpPr>
        <p:spPr>
          <a:xfrm>
            <a:off x="7772400" y="1097280"/>
            <a:ext cx="3474720" cy="4114800"/>
          </a:xfrm>
          <a:prstGeom prst="rect">
            <a:avLst>
              <a:gd name="adj" fmla="val 2632"/>
            </a:avLst>
          </a:prstGeom>
          <a:solidFill>
            <a:srgbClr val="252540"/>
          </a:solidFill>
          <a:ln/>
        </p:spPr>
      </p:sp>
      <p:sp>
        <p:nvSpPr>
          <p:cNvPr id="12" name="Text 9"/>
          <p:cNvSpPr/>
          <p:nvPr/>
        </p:nvSpPr>
        <p:spPr>
          <a:xfrm>
            <a:off x="7955280" y="1280160"/>
            <a:ext cx="3108960" cy="457200"/>
          </a:xfrm>
          <a:prstGeom prst="rect">
            <a:avLst/>
          </a:prstGeom>
          <a:noFill/>
          <a:ln/>
        </p:spPr>
        <p:txBody>
          <a:bodyPr wrap="square" rtlCol="0" anchor="ctr"/>
          <a:lstStyle/>
          <a:p>
            <a:pPr indent="0" marL="0">
              <a:buNone/>
            </a:pPr>
            <a:r>
              <a:rPr lang="en-US" sz="1200" b="1" dirty="0">
                <a:solidFill>
                  <a:srgbClr val="4A9EFF"/>
                </a:solidFill>
                <a:latin typeface="Arial" pitchFamily="34" charset="0"/>
                <a:ea typeface="Arial" pitchFamily="34" charset="-122"/>
                <a:cs typeface="Arial" pitchFamily="34" charset="-120"/>
              </a:rPr>
              <a:t>ARSENAL EXPANSION</a:t>
            </a:r>
            <a:endParaRPr lang="en-US" sz="1200" dirty="0"/>
          </a:p>
        </p:txBody>
      </p:sp>
      <p:sp>
        <p:nvSpPr>
          <p:cNvPr id="13" name="Text 10"/>
          <p:cNvSpPr/>
          <p:nvPr/>
        </p:nvSpPr>
        <p:spPr>
          <a:xfrm>
            <a:off x="7955280" y="1828800"/>
            <a:ext cx="3108960" cy="3200400"/>
          </a:xfrm>
          <a:prstGeom prst="rect">
            <a:avLst/>
          </a:prstGeom>
          <a:noFill/>
          <a:ln/>
        </p:spPr>
        <p:txBody>
          <a:bodyPr wrap="square" rtlCol="0" anchor="t"/>
          <a:lstStyle/>
          <a:p>
            <a:pPr indent="0" marL="0">
              <a:lnSpc>
                <a:spcPct val="120000"/>
              </a:lnSpc>
              <a:buNone/>
            </a:pPr>
            <a:r>
              <a:rPr lang="en-US" sz="1300" dirty="0">
                <a:solidFill>
                  <a:srgbClr val="E0E0E0"/>
                </a:solidFill>
                <a:latin typeface="Arial" pitchFamily="34" charset="0"/>
                <a:ea typeface="Arial" pitchFamily="34" charset="-122"/>
                <a:cs typeface="Arial" pitchFamily="34" charset="-120"/>
              </a:rPr>
              <a:t>The system supports broad expansion of weapon types and functionalities without disrupting core combat rules, allowing continuous innovation in gameplay.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AI Architecture and Brain Model</a:t>
            </a:r>
            <a:endParaRPr lang="en-US" sz="2800" dirty="0"/>
          </a:p>
        </p:txBody>
      </p:sp>
      <p:sp>
        <p:nvSpPr>
          <p:cNvPr id="5" name="Text 2"/>
          <p:cNvSpPr/>
          <p:nvPr/>
        </p:nvSpPr>
        <p:spPr>
          <a:xfrm>
            <a:off x="457200" y="1005840"/>
            <a:ext cx="10972800" cy="640080"/>
          </a:xfrm>
          <a:prstGeom prst="rect">
            <a:avLst/>
          </a:prstGeom>
          <a:noFill/>
          <a:ln/>
        </p:spPr>
        <p:txBody>
          <a:bodyPr wrap="square" rtlCol="0" anchor="ctr"/>
          <a:lstStyle/>
          <a:p>
            <a:pPr indent="0" marL="0">
              <a:buNone/>
            </a:pPr>
            <a:r>
              <a:rPr lang="en-US" sz="1500" i="1" dirty="0">
                <a:solidFill>
                  <a:srgbClr val="A0A0B0"/>
                </a:solidFill>
                <a:latin typeface="Arial" pitchFamily="34" charset="0"/>
                <a:ea typeface="Arial" pitchFamily="34" charset="-122"/>
                <a:cs typeface="Arial" pitchFamily="34" charset="-120"/>
              </a:rPr>
              <a:t>Hybrid tick-based + event-driven system</a:t>
            </a:r>
            <a:endParaRPr lang="en-US" sz="1500" dirty="0"/>
          </a:p>
          <a:p>
            <a:pPr indent="0" marL="0">
              <a:buNone/>
            </a:pPr>
            <a:r>
              <a:rPr lang="en-US" sz="1500" i="1" dirty="0">
                <a:solidFill>
                  <a:srgbClr val="A0A0B0"/>
                </a:solidFill>
                <a:latin typeface="Arial" pitchFamily="34" charset="0"/>
                <a:ea typeface="Arial" pitchFamily="34" charset="-122"/>
                <a:cs typeface="Arial" pitchFamily="34" charset="-120"/>
              </a:rPr>
              <a:t>Every tick: Sense → Decide → Act</a:t>
            </a:r>
            <a:endParaRPr lang="en-US" sz="1500" dirty="0"/>
          </a:p>
        </p:txBody>
      </p:sp>
      <p:sp>
        <p:nvSpPr>
          <p:cNvPr id="6" name="Shape 3"/>
          <p:cNvSpPr/>
          <p:nvPr/>
        </p:nvSpPr>
        <p:spPr>
          <a:xfrm>
            <a:off x="457200" y="1828800"/>
            <a:ext cx="2103120" cy="3200400"/>
          </a:xfrm>
          <a:prstGeom prst="rect">
            <a:avLst>
              <a:gd name="adj" fmla="val 4348"/>
            </a:avLst>
          </a:prstGeom>
          <a:solidFill>
            <a:srgbClr val="252540"/>
          </a:solidFill>
          <a:ln/>
        </p:spPr>
      </p:sp>
      <p:sp>
        <p:nvSpPr>
          <p:cNvPr id="7" name="Text 4"/>
          <p:cNvSpPr/>
          <p:nvPr/>
        </p:nvSpPr>
        <p:spPr>
          <a:xfrm>
            <a:off x="457200" y="2011680"/>
            <a:ext cx="2103120" cy="731520"/>
          </a:xfrm>
          <a:prstGeom prst="rect">
            <a:avLst/>
          </a:prstGeom>
          <a:noFill/>
          <a:ln/>
        </p:spPr>
        <p:txBody>
          <a:bodyPr wrap="square" rtlCol="0" anchor="ctr"/>
          <a:lstStyle/>
          <a:p>
            <a:pPr algn="ctr" indent="0" marL="0">
              <a:buNone/>
            </a:pPr>
            <a:r>
              <a:rPr lang="en-US" sz="3600" dirty="0">
                <a:solidFill>
                  <a:srgbClr val="000000"/>
                </a:solidFill>
                <a:latin typeface="Arial" pitchFamily="34" charset="0"/>
                <a:ea typeface="Arial" pitchFamily="34" charset="-122"/>
                <a:cs typeface="Arial" pitchFamily="34" charset="-120"/>
              </a:rPr>
              <a:t>⚖️</a:t>
            </a:r>
            <a:endParaRPr lang="en-US" sz="3600" dirty="0"/>
          </a:p>
        </p:txBody>
      </p:sp>
      <p:sp>
        <p:nvSpPr>
          <p:cNvPr id="8" name="Text 5"/>
          <p:cNvSpPr/>
          <p:nvPr/>
        </p:nvSpPr>
        <p:spPr>
          <a:xfrm>
            <a:off x="548640" y="2743200"/>
            <a:ext cx="1920240" cy="457200"/>
          </a:xfrm>
          <a:prstGeom prst="rect">
            <a:avLst/>
          </a:prstGeom>
          <a:noFill/>
          <a:ln/>
        </p:spPr>
        <p:txBody>
          <a:bodyPr wrap="square" rtlCol="0" anchor="ctr"/>
          <a:lstStyle/>
          <a:p>
            <a:pPr algn="ctr" indent="0" marL="0">
              <a:buNone/>
            </a:pPr>
            <a:r>
              <a:rPr lang="en-US" sz="1500" b="1" dirty="0">
                <a:solidFill>
                  <a:srgbClr val="4A9EFF"/>
                </a:solidFill>
                <a:latin typeface="Arial" pitchFamily="34" charset="0"/>
                <a:ea typeface="Arial" pitchFamily="34" charset="-122"/>
                <a:cs typeface="Arial" pitchFamily="34" charset="-120"/>
              </a:rPr>
              <a:t>Balanced</a:t>
            </a:r>
            <a:endParaRPr lang="en-US" sz="1500" dirty="0"/>
          </a:p>
        </p:txBody>
      </p:sp>
      <p:sp>
        <p:nvSpPr>
          <p:cNvPr id="9" name="Text 6"/>
          <p:cNvSpPr/>
          <p:nvPr/>
        </p:nvSpPr>
        <p:spPr>
          <a:xfrm>
            <a:off x="594360" y="3200400"/>
            <a:ext cx="1828800" cy="1645920"/>
          </a:xfrm>
          <a:prstGeom prst="rect">
            <a:avLst/>
          </a:prstGeom>
          <a:noFill/>
          <a:ln/>
        </p:spPr>
        <p:txBody>
          <a:bodyPr wrap="square" rtlCol="0" anchor="t"/>
          <a:lstStyle/>
          <a:p>
            <a:pPr algn="ctr" indent="0" marL="0">
              <a:buNone/>
            </a:pPr>
            <a:r>
              <a:rPr lang="en-US" sz="1200" dirty="0">
                <a:solidFill>
                  <a:srgbClr val="E0E0E0"/>
                </a:solidFill>
                <a:latin typeface="Arial" pitchFamily="34" charset="0"/>
                <a:ea typeface="Arial" pitchFamily="34" charset="-122"/>
                <a:cs typeface="Arial" pitchFamily="34" charset="-120"/>
              </a:rPr>
              <a:t>Weighs all survival needs equally</a:t>
            </a:r>
            <a:endParaRPr lang="en-US" sz="1200" dirty="0"/>
          </a:p>
        </p:txBody>
      </p:sp>
      <p:sp>
        <p:nvSpPr>
          <p:cNvPr id="10" name="Shape 7"/>
          <p:cNvSpPr/>
          <p:nvPr/>
        </p:nvSpPr>
        <p:spPr>
          <a:xfrm>
            <a:off x="2743200" y="1828800"/>
            <a:ext cx="2103120" cy="3200400"/>
          </a:xfrm>
          <a:prstGeom prst="rect">
            <a:avLst>
              <a:gd name="adj" fmla="val 4348"/>
            </a:avLst>
          </a:prstGeom>
          <a:solidFill>
            <a:srgbClr val="252540"/>
          </a:solidFill>
          <a:ln/>
        </p:spPr>
      </p:sp>
      <p:sp>
        <p:nvSpPr>
          <p:cNvPr id="11" name="Text 8"/>
          <p:cNvSpPr/>
          <p:nvPr/>
        </p:nvSpPr>
        <p:spPr>
          <a:xfrm>
            <a:off x="2743200" y="2011680"/>
            <a:ext cx="2103120" cy="731520"/>
          </a:xfrm>
          <a:prstGeom prst="rect">
            <a:avLst/>
          </a:prstGeom>
          <a:noFill/>
          <a:ln/>
        </p:spPr>
        <p:txBody>
          <a:bodyPr wrap="square" rtlCol="0" anchor="ctr"/>
          <a:lstStyle/>
          <a:p>
            <a:pPr algn="ctr" indent="0" marL="0">
              <a:buNone/>
            </a:pPr>
            <a:r>
              <a:rPr lang="en-US" sz="3600" dirty="0">
                <a:solidFill>
                  <a:srgbClr val="000000"/>
                </a:solidFill>
                <a:latin typeface="Arial" pitchFamily="34" charset="0"/>
                <a:ea typeface="Arial" pitchFamily="34" charset="-122"/>
                <a:cs typeface="Arial" pitchFamily="34" charset="-120"/>
              </a:rPr>
              <a:t>⚔️</a:t>
            </a:r>
            <a:endParaRPr lang="en-US" sz="3600" dirty="0"/>
          </a:p>
        </p:txBody>
      </p:sp>
      <p:sp>
        <p:nvSpPr>
          <p:cNvPr id="12" name="Text 9"/>
          <p:cNvSpPr/>
          <p:nvPr/>
        </p:nvSpPr>
        <p:spPr>
          <a:xfrm>
            <a:off x="2834640" y="2743200"/>
            <a:ext cx="1920240" cy="457200"/>
          </a:xfrm>
          <a:prstGeom prst="rect">
            <a:avLst/>
          </a:prstGeom>
          <a:noFill/>
          <a:ln/>
        </p:spPr>
        <p:txBody>
          <a:bodyPr wrap="square" rtlCol="0" anchor="ctr"/>
          <a:lstStyle/>
          <a:p>
            <a:pPr algn="ctr" indent="0" marL="0">
              <a:buNone/>
            </a:pPr>
            <a:r>
              <a:rPr lang="en-US" sz="1500" b="1" dirty="0">
                <a:solidFill>
                  <a:srgbClr val="4A9EFF"/>
                </a:solidFill>
                <a:latin typeface="Arial" pitchFamily="34" charset="0"/>
                <a:ea typeface="Arial" pitchFamily="34" charset="-122"/>
                <a:cs typeface="Arial" pitchFamily="34" charset="-120"/>
              </a:rPr>
              <a:t>Aggressive</a:t>
            </a:r>
            <a:endParaRPr lang="en-US" sz="1500" dirty="0"/>
          </a:p>
        </p:txBody>
      </p:sp>
      <p:sp>
        <p:nvSpPr>
          <p:cNvPr id="13" name="Text 10"/>
          <p:cNvSpPr/>
          <p:nvPr/>
        </p:nvSpPr>
        <p:spPr>
          <a:xfrm>
            <a:off x="2880360" y="3200400"/>
            <a:ext cx="1828800" cy="1645920"/>
          </a:xfrm>
          <a:prstGeom prst="rect">
            <a:avLst/>
          </a:prstGeom>
          <a:noFill/>
          <a:ln/>
        </p:spPr>
        <p:txBody>
          <a:bodyPr wrap="square" rtlCol="0" anchor="t"/>
          <a:lstStyle/>
          <a:p>
            <a:pPr algn="ctr" indent="0" marL="0">
              <a:buNone/>
            </a:pPr>
            <a:r>
              <a:rPr lang="en-US" sz="1200" dirty="0">
                <a:solidFill>
                  <a:srgbClr val="E0E0E0"/>
                </a:solidFill>
                <a:latin typeface="Arial" pitchFamily="34" charset="0"/>
                <a:ea typeface="Arial" pitchFamily="34" charset="-122"/>
                <a:cs typeface="Arial" pitchFamily="34" charset="-120"/>
              </a:rPr>
              <a:t>Charges into threats, prioritizes combat</a:t>
            </a:r>
            <a:endParaRPr lang="en-US" sz="1200" dirty="0"/>
          </a:p>
        </p:txBody>
      </p:sp>
      <p:sp>
        <p:nvSpPr>
          <p:cNvPr id="14" name="Shape 11"/>
          <p:cNvSpPr/>
          <p:nvPr/>
        </p:nvSpPr>
        <p:spPr>
          <a:xfrm>
            <a:off x="5029200" y="1828800"/>
            <a:ext cx="2103120" cy="3200400"/>
          </a:xfrm>
          <a:prstGeom prst="rect">
            <a:avLst>
              <a:gd name="adj" fmla="val 4348"/>
            </a:avLst>
          </a:prstGeom>
          <a:solidFill>
            <a:srgbClr val="252540"/>
          </a:solidFill>
          <a:ln/>
        </p:spPr>
      </p:sp>
      <p:sp>
        <p:nvSpPr>
          <p:cNvPr id="15" name="Text 12"/>
          <p:cNvSpPr/>
          <p:nvPr/>
        </p:nvSpPr>
        <p:spPr>
          <a:xfrm>
            <a:off x="5029200" y="2011680"/>
            <a:ext cx="2103120" cy="731520"/>
          </a:xfrm>
          <a:prstGeom prst="rect">
            <a:avLst/>
          </a:prstGeom>
          <a:noFill/>
          <a:ln/>
        </p:spPr>
        <p:txBody>
          <a:bodyPr wrap="square" rtlCol="0" anchor="ctr"/>
          <a:lstStyle/>
          <a:p>
            <a:pPr algn="ctr" indent="0" marL="0">
              <a:buNone/>
            </a:pPr>
            <a:r>
              <a:rPr lang="en-US" sz="3600" dirty="0">
                <a:solidFill>
                  <a:srgbClr val="000000"/>
                </a:solidFill>
                <a:latin typeface="Arial" pitchFamily="34" charset="0"/>
                <a:ea typeface="Arial" pitchFamily="34" charset="-122"/>
                <a:cs typeface="Arial" pitchFamily="34" charset="-120"/>
              </a:rPr>
              <a:t>🛡️</a:t>
            </a:r>
            <a:endParaRPr lang="en-US" sz="3600" dirty="0"/>
          </a:p>
        </p:txBody>
      </p:sp>
      <p:sp>
        <p:nvSpPr>
          <p:cNvPr id="16" name="Text 13"/>
          <p:cNvSpPr/>
          <p:nvPr/>
        </p:nvSpPr>
        <p:spPr>
          <a:xfrm>
            <a:off x="5120640" y="2743200"/>
            <a:ext cx="1920240" cy="457200"/>
          </a:xfrm>
          <a:prstGeom prst="rect">
            <a:avLst/>
          </a:prstGeom>
          <a:noFill/>
          <a:ln/>
        </p:spPr>
        <p:txBody>
          <a:bodyPr wrap="square" rtlCol="0" anchor="ctr"/>
          <a:lstStyle/>
          <a:p>
            <a:pPr algn="ctr" indent="0" marL="0">
              <a:buNone/>
            </a:pPr>
            <a:r>
              <a:rPr lang="en-US" sz="1500" b="1" dirty="0">
                <a:solidFill>
                  <a:srgbClr val="4A9EFF"/>
                </a:solidFill>
                <a:latin typeface="Arial" pitchFamily="34" charset="0"/>
                <a:ea typeface="Arial" pitchFamily="34" charset="-122"/>
                <a:cs typeface="Arial" pitchFamily="34" charset="-120"/>
              </a:rPr>
              <a:t>Cautious</a:t>
            </a:r>
            <a:endParaRPr lang="en-US" sz="1500" dirty="0"/>
          </a:p>
        </p:txBody>
      </p:sp>
      <p:sp>
        <p:nvSpPr>
          <p:cNvPr id="17" name="Text 14"/>
          <p:cNvSpPr/>
          <p:nvPr/>
        </p:nvSpPr>
        <p:spPr>
          <a:xfrm>
            <a:off x="5166360" y="3200400"/>
            <a:ext cx="1828800" cy="1645920"/>
          </a:xfrm>
          <a:prstGeom prst="rect">
            <a:avLst/>
          </a:prstGeom>
          <a:noFill/>
          <a:ln/>
        </p:spPr>
        <p:txBody>
          <a:bodyPr wrap="square" rtlCol="0" anchor="t"/>
          <a:lstStyle/>
          <a:p>
            <a:pPr algn="ctr" indent="0" marL="0">
              <a:buNone/>
            </a:pPr>
            <a:r>
              <a:rPr lang="en-US" sz="1200" dirty="0">
                <a:solidFill>
                  <a:srgbClr val="E0E0E0"/>
                </a:solidFill>
                <a:latin typeface="Arial" pitchFamily="34" charset="0"/>
                <a:ea typeface="Arial" pitchFamily="34" charset="-122"/>
                <a:cs typeface="Arial" pitchFamily="34" charset="-120"/>
              </a:rPr>
              <a:t>Plays it safe, avoids unnecessary risk</a:t>
            </a:r>
            <a:endParaRPr lang="en-US" sz="1200" dirty="0"/>
          </a:p>
        </p:txBody>
      </p:sp>
      <p:sp>
        <p:nvSpPr>
          <p:cNvPr id="18" name="Shape 15"/>
          <p:cNvSpPr/>
          <p:nvPr/>
        </p:nvSpPr>
        <p:spPr>
          <a:xfrm>
            <a:off x="7315200" y="1828800"/>
            <a:ext cx="2103120" cy="3200400"/>
          </a:xfrm>
          <a:prstGeom prst="rect">
            <a:avLst>
              <a:gd name="adj" fmla="val 4348"/>
            </a:avLst>
          </a:prstGeom>
          <a:solidFill>
            <a:srgbClr val="252540"/>
          </a:solidFill>
          <a:ln/>
        </p:spPr>
      </p:sp>
      <p:sp>
        <p:nvSpPr>
          <p:cNvPr id="19" name="Text 16"/>
          <p:cNvSpPr/>
          <p:nvPr/>
        </p:nvSpPr>
        <p:spPr>
          <a:xfrm>
            <a:off x="7315200" y="2011680"/>
            <a:ext cx="2103120" cy="731520"/>
          </a:xfrm>
          <a:prstGeom prst="rect">
            <a:avLst/>
          </a:prstGeom>
          <a:noFill/>
          <a:ln/>
        </p:spPr>
        <p:txBody>
          <a:bodyPr wrap="square" rtlCol="0" anchor="ctr"/>
          <a:lstStyle/>
          <a:p>
            <a:pPr algn="ctr" indent="0" marL="0">
              <a:buNone/>
            </a:pPr>
            <a:r>
              <a:rPr lang="en-US" sz="3600" dirty="0">
                <a:solidFill>
                  <a:srgbClr val="000000"/>
                </a:solidFill>
                <a:latin typeface="Arial" pitchFamily="34" charset="0"/>
                <a:ea typeface="Arial" pitchFamily="34" charset="-122"/>
                <a:cs typeface="Arial" pitchFamily="34" charset="-120"/>
              </a:rPr>
              <a:t>🎒</a:t>
            </a:r>
            <a:endParaRPr lang="en-US" sz="3600" dirty="0"/>
          </a:p>
        </p:txBody>
      </p:sp>
      <p:sp>
        <p:nvSpPr>
          <p:cNvPr id="20" name="Text 17"/>
          <p:cNvSpPr/>
          <p:nvPr/>
        </p:nvSpPr>
        <p:spPr>
          <a:xfrm>
            <a:off x="7406640" y="2743200"/>
            <a:ext cx="1920240" cy="457200"/>
          </a:xfrm>
          <a:prstGeom prst="rect">
            <a:avLst/>
          </a:prstGeom>
          <a:noFill/>
          <a:ln/>
        </p:spPr>
        <p:txBody>
          <a:bodyPr wrap="square" rtlCol="0" anchor="ctr"/>
          <a:lstStyle/>
          <a:p>
            <a:pPr algn="ctr" indent="0" marL="0">
              <a:buNone/>
            </a:pPr>
            <a:r>
              <a:rPr lang="en-US" sz="1500" b="1" dirty="0">
                <a:solidFill>
                  <a:srgbClr val="4A9EFF"/>
                </a:solidFill>
                <a:latin typeface="Arial" pitchFamily="34" charset="0"/>
                <a:ea typeface="Arial" pitchFamily="34" charset="-122"/>
                <a:cs typeface="Arial" pitchFamily="34" charset="-120"/>
              </a:rPr>
              <a:t>Survivalist</a:t>
            </a:r>
            <a:endParaRPr lang="en-US" sz="1500" dirty="0"/>
          </a:p>
        </p:txBody>
      </p:sp>
      <p:sp>
        <p:nvSpPr>
          <p:cNvPr id="21" name="Text 18"/>
          <p:cNvSpPr/>
          <p:nvPr/>
        </p:nvSpPr>
        <p:spPr>
          <a:xfrm>
            <a:off x="7452360" y="3200400"/>
            <a:ext cx="1828800" cy="1645920"/>
          </a:xfrm>
          <a:prstGeom prst="rect">
            <a:avLst/>
          </a:prstGeom>
          <a:noFill/>
          <a:ln/>
        </p:spPr>
        <p:txBody>
          <a:bodyPr wrap="square" rtlCol="0" anchor="t"/>
          <a:lstStyle/>
          <a:p>
            <a:pPr algn="ctr" indent="0" marL="0">
              <a:buNone/>
            </a:pPr>
            <a:r>
              <a:rPr lang="en-US" sz="1200" dirty="0">
                <a:solidFill>
                  <a:srgbClr val="E0E0E0"/>
                </a:solidFill>
                <a:latin typeface="Arial" pitchFamily="34" charset="0"/>
                <a:ea typeface="Arial" pitchFamily="34" charset="-122"/>
                <a:cs typeface="Arial" pitchFamily="34" charset="-120"/>
              </a:rPr>
              <a:t>Focuses on resource gathering and self-preservation</a:t>
            </a:r>
            <a:endParaRPr lang="en-US" sz="1200" dirty="0"/>
          </a:p>
        </p:txBody>
      </p:sp>
      <p:sp>
        <p:nvSpPr>
          <p:cNvPr id="22" name="Shape 19"/>
          <p:cNvSpPr/>
          <p:nvPr/>
        </p:nvSpPr>
        <p:spPr>
          <a:xfrm>
            <a:off x="9601200" y="1828800"/>
            <a:ext cx="2103120" cy="3200400"/>
          </a:xfrm>
          <a:prstGeom prst="rect">
            <a:avLst>
              <a:gd name="adj" fmla="val 4348"/>
            </a:avLst>
          </a:prstGeom>
          <a:solidFill>
            <a:srgbClr val="252540"/>
          </a:solidFill>
          <a:ln/>
        </p:spPr>
      </p:sp>
      <p:sp>
        <p:nvSpPr>
          <p:cNvPr id="23" name="Text 20"/>
          <p:cNvSpPr/>
          <p:nvPr/>
        </p:nvSpPr>
        <p:spPr>
          <a:xfrm>
            <a:off x="9601200" y="2011680"/>
            <a:ext cx="2103120" cy="731520"/>
          </a:xfrm>
          <a:prstGeom prst="rect">
            <a:avLst/>
          </a:prstGeom>
          <a:noFill/>
          <a:ln/>
        </p:spPr>
        <p:txBody>
          <a:bodyPr wrap="square" rtlCol="0" anchor="ctr"/>
          <a:lstStyle/>
          <a:p>
            <a:pPr algn="ctr" indent="0" marL="0">
              <a:buNone/>
            </a:pPr>
            <a:r>
              <a:rPr lang="en-US" sz="3600" dirty="0">
                <a:solidFill>
                  <a:srgbClr val="000000"/>
                </a:solidFill>
                <a:latin typeface="Arial" pitchFamily="34" charset="0"/>
                <a:ea typeface="Arial" pitchFamily="34" charset="-122"/>
                <a:cs typeface="Arial" pitchFamily="34" charset="-120"/>
              </a:rPr>
              <a:t>💰</a:t>
            </a:r>
            <a:endParaRPr lang="en-US" sz="3600" dirty="0"/>
          </a:p>
        </p:txBody>
      </p:sp>
      <p:sp>
        <p:nvSpPr>
          <p:cNvPr id="24" name="Text 21"/>
          <p:cNvSpPr/>
          <p:nvPr/>
        </p:nvSpPr>
        <p:spPr>
          <a:xfrm>
            <a:off x="9692640" y="2743200"/>
            <a:ext cx="1920240" cy="457200"/>
          </a:xfrm>
          <a:prstGeom prst="rect">
            <a:avLst/>
          </a:prstGeom>
          <a:noFill/>
          <a:ln/>
        </p:spPr>
        <p:txBody>
          <a:bodyPr wrap="square" rtlCol="0" anchor="ctr"/>
          <a:lstStyle/>
          <a:p>
            <a:pPr algn="ctr" indent="0" marL="0">
              <a:buNone/>
            </a:pPr>
            <a:r>
              <a:rPr lang="en-US" sz="1500" b="1" dirty="0">
                <a:solidFill>
                  <a:srgbClr val="4A9EFF"/>
                </a:solidFill>
                <a:latin typeface="Arial" pitchFamily="34" charset="0"/>
                <a:ea typeface="Arial" pitchFamily="34" charset="-122"/>
                <a:cs typeface="Arial" pitchFamily="34" charset="-120"/>
              </a:rPr>
              <a:t>Money-Driven</a:t>
            </a:r>
            <a:endParaRPr lang="en-US" sz="1500" dirty="0"/>
          </a:p>
        </p:txBody>
      </p:sp>
      <p:sp>
        <p:nvSpPr>
          <p:cNvPr id="25" name="Text 22"/>
          <p:cNvSpPr/>
          <p:nvPr/>
        </p:nvSpPr>
        <p:spPr>
          <a:xfrm>
            <a:off x="9738360" y="3200400"/>
            <a:ext cx="1828800" cy="1645920"/>
          </a:xfrm>
          <a:prstGeom prst="rect">
            <a:avLst/>
          </a:prstGeom>
          <a:noFill/>
          <a:ln/>
        </p:spPr>
        <p:txBody>
          <a:bodyPr wrap="square" rtlCol="0" anchor="t"/>
          <a:lstStyle/>
          <a:p>
            <a:pPr algn="ctr" indent="0" marL="0">
              <a:buNone/>
            </a:pPr>
            <a:r>
              <a:rPr lang="en-US" sz="1200" dirty="0">
                <a:solidFill>
                  <a:srgbClr val="E0E0E0"/>
                </a:solidFill>
                <a:latin typeface="Arial" pitchFamily="34" charset="0"/>
                <a:ea typeface="Arial" pitchFamily="34" charset="-122"/>
                <a:cs typeface="Arial" pitchFamily="34" charset="-120"/>
              </a:rPr>
              <a:t>Prioritizes gold, trading, and economic advantage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Development Roadmap</a:t>
            </a:r>
            <a:endParaRPr lang="en-US" sz="2800" dirty="0"/>
          </a:p>
        </p:txBody>
      </p:sp>
      <p:sp>
        <p:nvSpPr>
          <p:cNvPr id="5" name="Shape 2"/>
          <p:cNvSpPr/>
          <p:nvPr/>
        </p:nvSpPr>
        <p:spPr>
          <a:xfrm>
            <a:off x="457200" y="1097280"/>
            <a:ext cx="10972800" cy="822960"/>
          </a:xfrm>
          <a:prstGeom prst="rect">
            <a:avLst>
              <a:gd name="adj" fmla="val 5556"/>
            </a:avLst>
          </a:prstGeom>
          <a:solidFill>
            <a:srgbClr val="2D6A4F"/>
          </a:solidFill>
          <a:ln/>
        </p:spPr>
      </p:sp>
      <p:sp>
        <p:nvSpPr>
          <p:cNvPr id="6" name="Text 3"/>
          <p:cNvSpPr/>
          <p:nvPr/>
        </p:nvSpPr>
        <p:spPr>
          <a:xfrm>
            <a:off x="640080" y="1097280"/>
            <a:ext cx="2743200" cy="8229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Sprint 1 — Feb</a:t>
            </a:r>
            <a:endParaRPr lang="en-US" sz="1500" dirty="0"/>
          </a:p>
        </p:txBody>
      </p:sp>
      <p:sp>
        <p:nvSpPr>
          <p:cNvPr id="7" name="Text 4"/>
          <p:cNvSpPr/>
          <p:nvPr/>
        </p:nvSpPr>
        <p:spPr>
          <a:xfrm>
            <a:off x="3383280" y="1097280"/>
            <a:ext cx="7772400" cy="822960"/>
          </a:xfrm>
          <a:prstGeom prst="rect">
            <a:avLst/>
          </a:prstGeom>
          <a:noFill/>
          <a:ln/>
        </p:spPr>
        <p:txBody>
          <a:bodyPr wrap="square" rtlCol="0" anchor="ctr"/>
          <a:lstStyle/>
          <a:p>
            <a:pPr indent="0" marL="0">
              <a:buNone/>
            </a:pPr>
            <a:r>
              <a:rPr lang="en-US" sz="1400" dirty="0">
                <a:solidFill>
                  <a:srgbClr val="E0E0E0"/>
                </a:solidFill>
                <a:latin typeface="Arial" pitchFamily="34" charset="0"/>
                <a:ea typeface="Arial" pitchFamily="34" charset="-122"/>
                <a:cs typeface="Arial" pitchFamily="34" charset="-120"/>
              </a:rPr>
              <a:t>Presentation, business plan, working prototype (WSS1)</a:t>
            </a:r>
            <a:endParaRPr lang="en-US" sz="1400" dirty="0"/>
          </a:p>
        </p:txBody>
      </p:sp>
      <p:sp>
        <p:nvSpPr>
          <p:cNvPr id="8" name="Shape 5"/>
          <p:cNvSpPr/>
          <p:nvPr/>
        </p:nvSpPr>
        <p:spPr>
          <a:xfrm>
            <a:off x="457200" y="2103120"/>
            <a:ext cx="10972800" cy="822960"/>
          </a:xfrm>
          <a:prstGeom prst="rect">
            <a:avLst>
              <a:gd name="adj" fmla="val 5556"/>
            </a:avLst>
          </a:prstGeom>
          <a:solidFill>
            <a:srgbClr val="252540"/>
          </a:solidFill>
          <a:ln/>
        </p:spPr>
      </p:sp>
      <p:sp>
        <p:nvSpPr>
          <p:cNvPr id="9" name="Text 6"/>
          <p:cNvSpPr/>
          <p:nvPr/>
        </p:nvSpPr>
        <p:spPr>
          <a:xfrm>
            <a:off x="640080" y="2103120"/>
            <a:ext cx="2743200" cy="822960"/>
          </a:xfrm>
          <a:prstGeom prst="rect">
            <a:avLst/>
          </a:prstGeom>
          <a:noFill/>
          <a:ln/>
        </p:spPr>
        <p:txBody>
          <a:bodyPr wrap="square" rtlCol="0" anchor="ctr"/>
          <a:lstStyle/>
          <a:p>
            <a:pPr indent="0" marL="0">
              <a:buNone/>
            </a:pPr>
            <a:r>
              <a:rPr lang="en-US" sz="1500" b="1" dirty="0">
                <a:solidFill>
                  <a:srgbClr val="4A9EFF"/>
                </a:solidFill>
                <a:latin typeface="Arial" pitchFamily="34" charset="0"/>
                <a:ea typeface="Arial" pitchFamily="34" charset="-122"/>
                <a:cs typeface="Arial" pitchFamily="34" charset="-120"/>
              </a:rPr>
              <a:t>Sprint 2 — Mar</a:t>
            </a:r>
            <a:endParaRPr lang="en-US" sz="1500" dirty="0"/>
          </a:p>
        </p:txBody>
      </p:sp>
      <p:sp>
        <p:nvSpPr>
          <p:cNvPr id="10" name="Text 7"/>
          <p:cNvSpPr/>
          <p:nvPr/>
        </p:nvSpPr>
        <p:spPr>
          <a:xfrm>
            <a:off x="3383280" y="2103120"/>
            <a:ext cx="7772400" cy="822960"/>
          </a:xfrm>
          <a:prstGeom prst="rect">
            <a:avLst/>
          </a:prstGeom>
          <a:noFill/>
          <a:ln/>
        </p:spPr>
        <p:txBody>
          <a:bodyPr wrap="square" rtlCol="0" anchor="ctr"/>
          <a:lstStyle/>
          <a:p>
            <a:pPr indent="0" marL="0">
              <a:buNone/>
            </a:pPr>
            <a:r>
              <a:rPr lang="en-US" sz="1400" dirty="0">
                <a:solidFill>
                  <a:srgbClr val="E0E0E0"/>
                </a:solidFill>
                <a:latin typeface="Arial" pitchFamily="34" charset="0"/>
                <a:ea typeface="Arial" pitchFamily="34" charset="-122"/>
                <a:cs typeface="Arial" pitchFamily="34" charset="-120"/>
              </a:rPr>
              <a:t>Phase 0: Core architecture, map system, entity framework, base AI pipeline</a:t>
            </a:r>
            <a:endParaRPr lang="en-US" sz="1400" dirty="0"/>
          </a:p>
        </p:txBody>
      </p:sp>
      <p:sp>
        <p:nvSpPr>
          <p:cNvPr id="11" name="Shape 8"/>
          <p:cNvSpPr/>
          <p:nvPr/>
        </p:nvSpPr>
        <p:spPr>
          <a:xfrm>
            <a:off x="457200" y="3108960"/>
            <a:ext cx="10972800" cy="822960"/>
          </a:xfrm>
          <a:prstGeom prst="rect">
            <a:avLst>
              <a:gd name="adj" fmla="val 5556"/>
            </a:avLst>
          </a:prstGeom>
          <a:solidFill>
            <a:srgbClr val="252540"/>
          </a:solidFill>
          <a:ln/>
        </p:spPr>
      </p:sp>
      <p:sp>
        <p:nvSpPr>
          <p:cNvPr id="12" name="Text 9"/>
          <p:cNvSpPr/>
          <p:nvPr/>
        </p:nvSpPr>
        <p:spPr>
          <a:xfrm>
            <a:off x="640080" y="3108960"/>
            <a:ext cx="2743200" cy="822960"/>
          </a:xfrm>
          <a:prstGeom prst="rect">
            <a:avLst/>
          </a:prstGeom>
          <a:noFill/>
          <a:ln/>
        </p:spPr>
        <p:txBody>
          <a:bodyPr wrap="square" rtlCol="0" anchor="ctr"/>
          <a:lstStyle/>
          <a:p>
            <a:pPr indent="0" marL="0">
              <a:buNone/>
            </a:pPr>
            <a:r>
              <a:rPr lang="en-US" sz="1500" b="1" dirty="0">
                <a:solidFill>
                  <a:srgbClr val="4A9EFF"/>
                </a:solidFill>
                <a:latin typeface="Arial" pitchFamily="34" charset="0"/>
                <a:ea typeface="Arial" pitchFamily="34" charset="-122"/>
                <a:cs typeface="Arial" pitchFamily="34" charset="-120"/>
              </a:rPr>
              <a:t>Sprint 3 — Apr</a:t>
            </a:r>
            <a:endParaRPr lang="en-US" sz="1500" dirty="0"/>
          </a:p>
        </p:txBody>
      </p:sp>
      <p:sp>
        <p:nvSpPr>
          <p:cNvPr id="13" name="Text 10"/>
          <p:cNvSpPr/>
          <p:nvPr/>
        </p:nvSpPr>
        <p:spPr>
          <a:xfrm>
            <a:off x="3383280" y="3108960"/>
            <a:ext cx="7772400" cy="822960"/>
          </a:xfrm>
          <a:prstGeom prst="rect">
            <a:avLst/>
          </a:prstGeom>
          <a:noFill/>
          <a:ln/>
        </p:spPr>
        <p:txBody>
          <a:bodyPr wrap="square" rtlCol="0" anchor="ctr"/>
          <a:lstStyle/>
          <a:p>
            <a:pPr indent="0" marL="0">
              <a:buNone/>
            </a:pPr>
            <a:r>
              <a:rPr lang="en-US" sz="1400" dirty="0">
                <a:solidFill>
                  <a:srgbClr val="E0E0E0"/>
                </a:solidFill>
                <a:latin typeface="Arial" pitchFamily="34" charset="0"/>
                <a:ea typeface="Arial" pitchFamily="34" charset="-122"/>
                <a:cs typeface="Arial" pitchFamily="34" charset="-120"/>
              </a:rPr>
              <a:t>Full gameplay loop, all 5 brain types, trading mechanics, combat system</a:t>
            </a:r>
            <a:endParaRPr lang="en-US" sz="1400" dirty="0"/>
          </a:p>
        </p:txBody>
      </p:sp>
      <p:sp>
        <p:nvSpPr>
          <p:cNvPr id="14" name="Shape 11"/>
          <p:cNvSpPr/>
          <p:nvPr/>
        </p:nvSpPr>
        <p:spPr>
          <a:xfrm>
            <a:off x="457200" y="4114800"/>
            <a:ext cx="10972800" cy="822960"/>
          </a:xfrm>
          <a:prstGeom prst="rect">
            <a:avLst>
              <a:gd name="adj" fmla="val 5556"/>
            </a:avLst>
          </a:prstGeom>
          <a:solidFill>
            <a:srgbClr val="252540"/>
          </a:solidFill>
          <a:ln/>
        </p:spPr>
      </p:sp>
      <p:sp>
        <p:nvSpPr>
          <p:cNvPr id="15" name="Text 12"/>
          <p:cNvSpPr/>
          <p:nvPr/>
        </p:nvSpPr>
        <p:spPr>
          <a:xfrm>
            <a:off x="640080" y="4114800"/>
            <a:ext cx="2743200" cy="822960"/>
          </a:xfrm>
          <a:prstGeom prst="rect">
            <a:avLst/>
          </a:prstGeom>
          <a:noFill/>
          <a:ln/>
        </p:spPr>
        <p:txBody>
          <a:bodyPr wrap="square" rtlCol="0" anchor="ctr"/>
          <a:lstStyle/>
          <a:p>
            <a:pPr indent="0" marL="0">
              <a:buNone/>
            </a:pPr>
            <a:r>
              <a:rPr lang="en-US" sz="1500" b="1" dirty="0">
                <a:solidFill>
                  <a:srgbClr val="4A9EFF"/>
                </a:solidFill>
                <a:latin typeface="Arial" pitchFamily="34" charset="0"/>
                <a:ea typeface="Arial" pitchFamily="34" charset="-122"/>
                <a:cs typeface="Arial" pitchFamily="34" charset="-120"/>
              </a:rPr>
              <a:t>Sprint 4 — May</a:t>
            </a:r>
            <a:endParaRPr lang="en-US" sz="1500" dirty="0"/>
          </a:p>
        </p:txBody>
      </p:sp>
      <p:sp>
        <p:nvSpPr>
          <p:cNvPr id="16" name="Text 13"/>
          <p:cNvSpPr/>
          <p:nvPr/>
        </p:nvSpPr>
        <p:spPr>
          <a:xfrm>
            <a:off x="3383280" y="4114800"/>
            <a:ext cx="7772400" cy="822960"/>
          </a:xfrm>
          <a:prstGeom prst="rect">
            <a:avLst/>
          </a:prstGeom>
          <a:noFill/>
          <a:ln/>
        </p:spPr>
        <p:txBody>
          <a:bodyPr wrap="square" rtlCol="0" anchor="ctr"/>
          <a:lstStyle/>
          <a:p>
            <a:pPr indent="0" marL="0">
              <a:buNone/>
            </a:pPr>
            <a:r>
              <a:rPr lang="en-US" sz="1400" dirty="0">
                <a:solidFill>
                  <a:srgbClr val="E0E0E0"/>
                </a:solidFill>
                <a:latin typeface="Arial" pitchFamily="34" charset="0"/>
                <a:ea typeface="Arial" pitchFamily="34" charset="-122"/>
                <a:cs typeface="Arial" pitchFamily="34" charset="-120"/>
              </a:rPr>
              <a:t>Director AI (adaptive difficulty), UI polish, final presentation</a:t>
            </a:r>
            <a:endParaRPr lang="en-US" sz="1400" dirty="0"/>
          </a:p>
        </p:txBody>
      </p:sp>
      <p:sp>
        <p:nvSpPr>
          <p:cNvPr id="17" name="Text 14"/>
          <p:cNvSpPr/>
          <p:nvPr/>
        </p:nvSpPr>
        <p:spPr>
          <a:xfrm>
            <a:off x="457200" y="5303520"/>
            <a:ext cx="1828800" cy="365760"/>
          </a:xfrm>
          <a:prstGeom prst="rect">
            <a:avLst/>
          </a:prstGeom>
          <a:noFill/>
          <a:ln/>
        </p:spPr>
        <p:txBody>
          <a:bodyPr wrap="square" rtlCol="0" anchor="ctr"/>
          <a:lstStyle/>
          <a:p>
            <a:pPr indent="0" marL="0">
              <a:buNone/>
            </a:pPr>
            <a:r>
              <a:rPr lang="en-US" sz="1600" b="1" dirty="0">
                <a:solidFill>
                  <a:srgbClr val="FF6B6B"/>
                </a:solidFill>
                <a:latin typeface="Arial" pitchFamily="34" charset="0"/>
                <a:ea typeface="Arial" pitchFamily="34" charset="-122"/>
                <a:cs typeface="Arial" pitchFamily="34" charset="-120"/>
              </a:rPr>
              <a:t>Risks</a:t>
            </a:r>
            <a:endParaRPr lang="en-US" sz="1600" dirty="0"/>
          </a:p>
        </p:txBody>
      </p:sp>
      <p:sp>
        <p:nvSpPr>
          <p:cNvPr id="18" name="Text 15"/>
          <p:cNvSpPr/>
          <p:nvPr/>
        </p:nvSpPr>
        <p:spPr>
          <a:xfrm>
            <a:off x="457200" y="5669280"/>
            <a:ext cx="10972800" cy="914400"/>
          </a:xfrm>
          <a:prstGeom prst="rect">
            <a:avLst/>
          </a:prstGeom>
          <a:noFill/>
          <a:ln/>
        </p:spPr>
        <p:txBody>
          <a:bodyPr wrap="square" rtlCol="0" anchor="ctr"/>
          <a:lstStyle/>
          <a:p>
            <a:pPr indent="0" marL="0">
              <a:lnSpc>
                <a:spcPct val="130000"/>
              </a:lnSpc>
              <a:buNone/>
            </a:pPr>
            <a:r>
              <a:rPr lang="en-US" sz="1300" dirty="0">
                <a:solidFill>
                  <a:srgbClr val="A0A0B0"/>
                </a:solidFill>
                <a:latin typeface="Arial" pitchFamily="34" charset="0"/>
                <a:ea typeface="Arial" pitchFamily="34" charset="-122"/>
                <a:cs typeface="Arial" pitchFamily="34" charset="-120"/>
              </a:rPr>
              <a:t>• Scope creep — managed by locking scope per sprint</a:t>
            </a:r>
            <a:endParaRPr lang="en-US" sz="1300" dirty="0"/>
          </a:p>
          <a:p>
            <a:pPr indent="0" marL="0">
              <a:lnSpc>
                <a:spcPct val="130000"/>
              </a:lnSpc>
              <a:buNone/>
            </a:pPr>
            <a:r>
              <a:rPr lang="en-US" sz="1300" dirty="0">
                <a:solidFill>
                  <a:srgbClr val="A0A0B0"/>
                </a:solidFill>
                <a:latin typeface="Arial" pitchFamily="34" charset="0"/>
                <a:ea typeface="Arial" pitchFamily="34" charset="-122"/>
                <a:cs typeface="Arial" pitchFamily="34" charset="-120"/>
              </a:rPr>
              <a:t>• AI complexity vs. timeline — two-person team</a:t>
            </a:r>
            <a:endParaRPr lang="en-US" sz="1300" dirty="0"/>
          </a:p>
          <a:p>
            <a:pPr indent="0" marL="0">
              <a:lnSpc>
                <a:spcPct val="130000"/>
              </a:lnSpc>
              <a:buNone/>
            </a:pPr>
            <a:r>
              <a:rPr lang="en-US" sz="1300" dirty="0">
                <a:solidFill>
                  <a:srgbClr val="A0A0B0"/>
                </a:solidFill>
                <a:latin typeface="Arial" pitchFamily="34" charset="0"/>
                <a:ea typeface="Arial" pitchFamily="34" charset="-122"/>
                <a:cs typeface="Arial" pitchFamily="34" charset="-120"/>
              </a:rPr>
              <a:t>• Performance at 60 tps with multiple agents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12192000" cy="822960"/>
          </a:xfrm>
          <a:prstGeom prst="rect">
            <a:avLst/>
          </a:prstGeom>
          <a:solidFill>
            <a:srgbClr val="16213E"/>
          </a:solidFill>
          <a:ln/>
        </p:spPr>
      </p:sp>
      <p:sp>
        <p:nvSpPr>
          <p:cNvPr id="4" name="Text 1"/>
          <p:cNvSpPr/>
          <p:nvPr/>
        </p:nvSpPr>
        <p:spPr>
          <a:xfrm>
            <a:off x="457200" y="91440"/>
            <a:ext cx="10972800" cy="640080"/>
          </a:xfrm>
          <a:prstGeom prst="rect">
            <a:avLst/>
          </a:prstGeom>
          <a:noFill/>
          <a:ln/>
        </p:spPr>
        <p:txBody>
          <a:bodyPr wrap="square" rtlCol="0" anchor="ctr"/>
          <a:lstStyle/>
          <a:p>
            <a:pPr indent="0" marL="0">
              <a:buNone/>
            </a:pPr>
            <a:r>
              <a:rPr lang="en-US" sz="2800" b="1" dirty="0">
                <a:solidFill>
                  <a:srgbClr val="4A9EFF"/>
                </a:solidFill>
                <a:latin typeface="Arial" pitchFamily="34" charset="0"/>
                <a:ea typeface="Arial" pitchFamily="34" charset="-122"/>
                <a:cs typeface="Arial" pitchFamily="34" charset="-120"/>
              </a:rPr>
              <a:t>Success Criteria</a:t>
            </a:r>
            <a:endParaRPr lang="en-US" sz="2800" dirty="0"/>
          </a:p>
        </p:txBody>
      </p:sp>
      <p:sp>
        <p:nvSpPr>
          <p:cNvPr id="5" name="Shape 2"/>
          <p:cNvSpPr/>
          <p:nvPr/>
        </p:nvSpPr>
        <p:spPr>
          <a:xfrm>
            <a:off x="1371600" y="1188720"/>
            <a:ext cx="9144000" cy="548640"/>
          </a:xfrm>
          <a:prstGeom prst="rect">
            <a:avLst>
              <a:gd name="adj" fmla="val 8333"/>
            </a:avLst>
          </a:prstGeom>
          <a:solidFill>
            <a:srgbClr val="252540"/>
          </a:solidFill>
          <a:ln/>
        </p:spPr>
      </p:sp>
      <p:sp>
        <p:nvSpPr>
          <p:cNvPr id="6" name="Text 3"/>
          <p:cNvSpPr/>
          <p:nvPr/>
        </p:nvSpPr>
        <p:spPr>
          <a:xfrm>
            <a:off x="1554480" y="1188720"/>
            <a:ext cx="457200" cy="548640"/>
          </a:xfrm>
          <a:prstGeom prst="rect">
            <a:avLst/>
          </a:prstGeom>
          <a:noFill/>
          <a:ln/>
        </p:spPr>
        <p:txBody>
          <a:bodyPr wrap="square" rtlCol="0" anchor="ctr"/>
          <a:lstStyle/>
          <a:p>
            <a:pPr algn="ctr" indent="0" marL="0">
              <a:buNone/>
            </a:pPr>
            <a:r>
              <a:rPr lang="en-US" sz="1800" dirty="0">
                <a:solidFill>
                  <a:srgbClr val="A0A0B0"/>
                </a:solidFill>
                <a:latin typeface="Arial" pitchFamily="34" charset="0"/>
                <a:ea typeface="Arial" pitchFamily="34" charset="-122"/>
                <a:cs typeface="Arial" pitchFamily="34" charset="-120"/>
              </a:rPr>
              <a:t>○</a:t>
            </a:r>
            <a:endParaRPr lang="en-US" sz="1800" dirty="0"/>
          </a:p>
        </p:txBody>
      </p:sp>
      <p:sp>
        <p:nvSpPr>
          <p:cNvPr id="7" name="Text 4"/>
          <p:cNvSpPr/>
          <p:nvPr/>
        </p:nvSpPr>
        <p:spPr>
          <a:xfrm>
            <a:off x="2103120" y="1188720"/>
            <a:ext cx="8229600" cy="548640"/>
          </a:xfrm>
          <a:prstGeom prst="rect">
            <a:avLst/>
          </a:prstGeom>
          <a:noFill/>
          <a:ln/>
        </p:spPr>
        <p:txBody>
          <a:bodyPr wrap="square" rtlCol="0" anchor="ctr"/>
          <a:lstStyle/>
          <a:p>
            <a:pPr indent="0" marL="0">
              <a:buNone/>
            </a:pPr>
            <a:r>
              <a:rPr lang="en-US" sz="1500" dirty="0">
                <a:solidFill>
                  <a:srgbClr val="E0E0E0"/>
                </a:solidFill>
                <a:latin typeface="Arial" pitchFamily="34" charset="0"/>
                <a:ea typeface="Arial" pitchFamily="34" charset="-122"/>
                <a:cs typeface="Arial" pitchFamily="34" charset="-120"/>
              </a:rPr>
              <a:t>Stable core loop running at 60 ticks/second</a:t>
            </a:r>
            <a:endParaRPr lang="en-US" sz="1500" dirty="0"/>
          </a:p>
        </p:txBody>
      </p:sp>
      <p:sp>
        <p:nvSpPr>
          <p:cNvPr id="8" name="Shape 5"/>
          <p:cNvSpPr/>
          <p:nvPr/>
        </p:nvSpPr>
        <p:spPr>
          <a:xfrm>
            <a:off x="1371600" y="1874520"/>
            <a:ext cx="9144000" cy="548640"/>
          </a:xfrm>
          <a:prstGeom prst="rect">
            <a:avLst>
              <a:gd name="adj" fmla="val 8333"/>
            </a:avLst>
          </a:prstGeom>
          <a:solidFill>
            <a:srgbClr val="252540"/>
          </a:solidFill>
          <a:ln/>
        </p:spPr>
      </p:sp>
      <p:sp>
        <p:nvSpPr>
          <p:cNvPr id="9" name="Text 6"/>
          <p:cNvSpPr/>
          <p:nvPr/>
        </p:nvSpPr>
        <p:spPr>
          <a:xfrm>
            <a:off x="1554480" y="1874520"/>
            <a:ext cx="457200" cy="548640"/>
          </a:xfrm>
          <a:prstGeom prst="rect">
            <a:avLst/>
          </a:prstGeom>
          <a:noFill/>
          <a:ln/>
        </p:spPr>
        <p:txBody>
          <a:bodyPr wrap="square" rtlCol="0" anchor="ctr"/>
          <a:lstStyle/>
          <a:p>
            <a:pPr algn="ctr" indent="0" marL="0">
              <a:buNone/>
            </a:pPr>
            <a:r>
              <a:rPr lang="en-US" sz="1800" dirty="0">
                <a:solidFill>
                  <a:srgbClr val="A0A0B0"/>
                </a:solidFill>
                <a:latin typeface="Arial" pitchFamily="34" charset="0"/>
                <a:ea typeface="Arial" pitchFamily="34" charset="-122"/>
                <a:cs typeface="Arial" pitchFamily="34" charset="-120"/>
              </a:rPr>
              <a:t>○</a:t>
            </a:r>
            <a:endParaRPr lang="en-US" sz="1800" dirty="0"/>
          </a:p>
        </p:txBody>
      </p:sp>
      <p:sp>
        <p:nvSpPr>
          <p:cNvPr id="10" name="Text 7"/>
          <p:cNvSpPr/>
          <p:nvPr/>
        </p:nvSpPr>
        <p:spPr>
          <a:xfrm>
            <a:off x="2103120" y="1874520"/>
            <a:ext cx="8229600" cy="548640"/>
          </a:xfrm>
          <a:prstGeom prst="rect">
            <a:avLst/>
          </a:prstGeom>
          <a:noFill/>
          <a:ln/>
        </p:spPr>
        <p:txBody>
          <a:bodyPr wrap="square" rtlCol="0" anchor="ctr"/>
          <a:lstStyle/>
          <a:p>
            <a:pPr indent="0" marL="0">
              <a:buNone/>
            </a:pPr>
            <a:r>
              <a:rPr lang="en-US" sz="1500" dirty="0">
                <a:solidFill>
                  <a:srgbClr val="E0E0E0"/>
                </a:solidFill>
                <a:latin typeface="Arial" pitchFamily="34" charset="0"/>
                <a:ea typeface="Arial" pitchFamily="34" charset="-122"/>
                <a:cs typeface="Arial" pitchFamily="34" charset="-120"/>
              </a:rPr>
              <a:t>AI agents with observable, debuggable decision-making</a:t>
            </a:r>
            <a:endParaRPr lang="en-US" sz="1500" dirty="0"/>
          </a:p>
        </p:txBody>
      </p:sp>
      <p:sp>
        <p:nvSpPr>
          <p:cNvPr id="11" name="Shape 8"/>
          <p:cNvSpPr/>
          <p:nvPr/>
        </p:nvSpPr>
        <p:spPr>
          <a:xfrm>
            <a:off x="1371600" y="2560320"/>
            <a:ext cx="9144000" cy="548640"/>
          </a:xfrm>
          <a:prstGeom prst="rect">
            <a:avLst>
              <a:gd name="adj" fmla="val 8333"/>
            </a:avLst>
          </a:prstGeom>
          <a:solidFill>
            <a:srgbClr val="252540"/>
          </a:solidFill>
          <a:ln/>
        </p:spPr>
      </p:sp>
      <p:sp>
        <p:nvSpPr>
          <p:cNvPr id="12" name="Text 9"/>
          <p:cNvSpPr/>
          <p:nvPr/>
        </p:nvSpPr>
        <p:spPr>
          <a:xfrm>
            <a:off x="1554480" y="2560320"/>
            <a:ext cx="457200" cy="548640"/>
          </a:xfrm>
          <a:prstGeom prst="rect">
            <a:avLst/>
          </a:prstGeom>
          <a:noFill/>
          <a:ln/>
        </p:spPr>
        <p:txBody>
          <a:bodyPr wrap="square" rtlCol="0" anchor="ctr"/>
          <a:lstStyle/>
          <a:p>
            <a:pPr algn="ctr" indent="0" marL="0">
              <a:buNone/>
            </a:pPr>
            <a:r>
              <a:rPr lang="en-US" sz="1800" dirty="0">
                <a:solidFill>
                  <a:srgbClr val="A0A0B0"/>
                </a:solidFill>
                <a:latin typeface="Arial" pitchFamily="34" charset="0"/>
                <a:ea typeface="Arial" pitchFamily="34" charset="-122"/>
                <a:cs typeface="Arial" pitchFamily="34" charset="-120"/>
              </a:rPr>
              <a:t>○</a:t>
            </a:r>
            <a:endParaRPr lang="en-US" sz="1800" dirty="0"/>
          </a:p>
        </p:txBody>
      </p:sp>
      <p:sp>
        <p:nvSpPr>
          <p:cNvPr id="13" name="Text 10"/>
          <p:cNvSpPr/>
          <p:nvPr/>
        </p:nvSpPr>
        <p:spPr>
          <a:xfrm>
            <a:off x="2103120" y="2560320"/>
            <a:ext cx="8229600" cy="548640"/>
          </a:xfrm>
          <a:prstGeom prst="rect">
            <a:avLst/>
          </a:prstGeom>
          <a:noFill/>
          <a:ln/>
        </p:spPr>
        <p:txBody>
          <a:bodyPr wrap="square" rtlCol="0" anchor="ctr"/>
          <a:lstStyle/>
          <a:p>
            <a:pPr indent="0" marL="0">
              <a:buNone/>
            </a:pPr>
            <a:r>
              <a:rPr lang="en-US" sz="1500" dirty="0">
                <a:solidFill>
                  <a:srgbClr val="E0E0E0"/>
                </a:solidFill>
                <a:latin typeface="Arial" pitchFamily="34" charset="0"/>
                <a:ea typeface="Arial" pitchFamily="34" charset="-122"/>
                <a:cs typeface="Arial" pitchFamily="34" charset="-120"/>
              </a:rPr>
              <a:t>Vision-Brain architecture: modular, swappable, testable</a:t>
            </a:r>
            <a:endParaRPr lang="en-US" sz="1500" dirty="0"/>
          </a:p>
        </p:txBody>
      </p:sp>
      <p:sp>
        <p:nvSpPr>
          <p:cNvPr id="14" name="Shape 11"/>
          <p:cNvSpPr/>
          <p:nvPr/>
        </p:nvSpPr>
        <p:spPr>
          <a:xfrm>
            <a:off x="1371600" y="3246120"/>
            <a:ext cx="9144000" cy="548640"/>
          </a:xfrm>
          <a:prstGeom prst="rect">
            <a:avLst>
              <a:gd name="adj" fmla="val 8333"/>
            </a:avLst>
          </a:prstGeom>
          <a:solidFill>
            <a:srgbClr val="252540"/>
          </a:solidFill>
          <a:ln/>
        </p:spPr>
      </p:sp>
      <p:sp>
        <p:nvSpPr>
          <p:cNvPr id="15" name="Text 12"/>
          <p:cNvSpPr/>
          <p:nvPr/>
        </p:nvSpPr>
        <p:spPr>
          <a:xfrm>
            <a:off x="1554480" y="3246120"/>
            <a:ext cx="457200" cy="548640"/>
          </a:xfrm>
          <a:prstGeom prst="rect">
            <a:avLst/>
          </a:prstGeom>
          <a:noFill/>
          <a:ln/>
        </p:spPr>
        <p:txBody>
          <a:bodyPr wrap="square" rtlCol="0" anchor="ctr"/>
          <a:lstStyle/>
          <a:p>
            <a:pPr algn="ctr" indent="0" marL="0">
              <a:buNone/>
            </a:pPr>
            <a:r>
              <a:rPr lang="en-US" sz="1800" dirty="0">
                <a:solidFill>
                  <a:srgbClr val="A0A0B0"/>
                </a:solidFill>
                <a:latin typeface="Arial" pitchFamily="34" charset="0"/>
                <a:ea typeface="Arial" pitchFamily="34" charset="-122"/>
                <a:cs typeface="Arial" pitchFamily="34" charset="-120"/>
              </a:rPr>
              <a:t>○</a:t>
            </a:r>
            <a:endParaRPr lang="en-US" sz="1800" dirty="0"/>
          </a:p>
        </p:txBody>
      </p:sp>
      <p:sp>
        <p:nvSpPr>
          <p:cNvPr id="16" name="Text 13"/>
          <p:cNvSpPr/>
          <p:nvPr/>
        </p:nvSpPr>
        <p:spPr>
          <a:xfrm>
            <a:off x="2103120" y="3246120"/>
            <a:ext cx="8229600" cy="548640"/>
          </a:xfrm>
          <a:prstGeom prst="rect">
            <a:avLst/>
          </a:prstGeom>
          <a:noFill/>
          <a:ln/>
        </p:spPr>
        <p:txBody>
          <a:bodyPr wrap="square" rtlCol="0" anchor="ctr"/>
          <a:lstStyle/>
          <a:p>
            <a:pPr indent="0" marL="0">
              <a:buNone/>
            </a:pPr>
            <a:r>
              <a:rPr lang="en-US" sz="1500" dirty="0">
                <a:solidFill>
                  <a:srgbClr val="E0E0E0"/>
                </a:solidFill>
                <a:latin typeface="Arial" pitchFamily="34" charset="0"/>
                <a:ea typeface="Arial" pitchFamily="34" charset="-122"/>
                <a:cs typeface="Arial" pitchFamily="34" charset="-120"/>
              </a:rPr>
              <a:t>All 5 brain types showing genuinely different behavior</a:t>
            </a:r>
            <a:endParaRPr lang="en-US" sz="1500" dirty="0"/>
          </a:p>
        </p:txBody>
      </p:sp>
      <p:sp>
        <p:nvSpPr>
          <p:cNvPr id="17" name="Shape 14"/>
          <p:cNvSpPr/>
          <p:nvPr/>
        </p:nvSpPr>
        <p:spPr>
          <a:xfrm>
            <a:off x="1371600" y="3931920"/>
            <a:ext cx="9144000" cy="548640"/>
          </a:xfrm>
          <a:prstGeom prst="rect">
            <a:avLst>
              <a:gd name="adj" fmla="val 8333"/>
            </a:avLst>
          </a:prstGeom>
          <a:solidFill>
            <a:srgbClr val="252540"/>
          </a:solidFill>
          <a:ln/>
        </p:spPr>
      </p:sp>
      <p:sp>
        <p:nvSpPr>
          <p:cNvPr id="18" name="Text 15"/>
          <p:cNvSpPr/>
          <p:nvPr/>
        </p:nvSpPr>
        <p:spPr>
          <a:xfrm>
            <a:off x="1554480" y="3931920"/>
            <a:ext cx="457200" cy="548640"/>
          </a:xfrm>
          <a:prstGeom prst="rect">
            <a:avLst/>
          </a:prstGeom>
          <a:noFill/>
          <a:ln/>
        </p:spPr>
        <p:txBody>
          <a:bodyPr wrap="square" rtlCol="0" anchor="ctr"/>
          <a:lstStyle/>
          <a:p>
            <a:pPr algn="ctr" indent="0" marL="0">
              <a:buNone/>
            </a:pPr>
            <a:r>
              <a:rPr lang="en-US" sz="1800" dirty="0">
                <a:solidFill>
                  <a:srgbClr val="A0A0B0"/>
                </a:solidFill>
                <a:latin typeface="Arial" pitchFamily="34" charset="0"/>
                <a:ea typeface="Arial" pitchFamily="34" charset="-122"/>
                <a:cs typeface="Arial" pitchFamily="34" charset="-120"/>
              </a:rPr>
              <a:t>○</a:t>
            </a:r>
            <a:endParaRPr lang="en-US" sz="1800" dirty="0"/>
          </a:p>
        </p:txBody>
      </p:sp>
      <p:sp>
        <p:nvSpPr>
          <p:cNvPr id="19" name="Text 16"/>
          <p:cNvSpPr/>
          <p:nvPr/>
        </p:nvSpPr>
        <p:spPr>
          <a:xfrm>
            <a:off x="2103120" y="3931920"/>
            <a:ext cx="8229600" cy="548640"/>
          </a:xfrm>
          <a:prstGeom prst="rect">
            <a:avLst/>
          </a:prstGeom>
          <a:noFill/>
          <a:ln/>
        </p:spPr>
        <p:txBody>
          <a:bodyPr wrap="square" rtlCol="0" anchor="ctr"/>
          <a:lstStyle/>
          <a:p>
            <a:pPr indent="0" marL="0">
              <a:buNone/>
            </a:pPr>
            <a:r>
              <a:rPr lang="en-US" sz="1500" dirty="0">
                <a:solidFill>
                  <a:srgbClr val="E0E0E0"/>
                </a:solidFill>
                <a:latin typeface="Arial" pitchFamily="34" charset="0"/>
                <a:ea typeface="Arial" pitchFamily="34" charset="-122"/>
                <a:cs typeface="Arial" pitchFamily="34" charset="-120"/>
              </a:rPr>
              <a:t>Functional trading system with NPC merchants</a:t>
            </a:r>
            <a:endParaRPr lang="en-US" sz="1500" dirty="0"/>
          </a:p>
        </p:txBody>
      </p:sp>
      <p:sp>
        <p:nvSpPr>
          <p:cNvPr id="20" name="Shape 17"/>
          <p:cNvSpPr/>
          <p:nvPr/>
        </p:nvSpPr>
        <p:spPr>
          <a:xfrm>
            <a:off x="1371600" y="4617720"/>
            <a:ext cx="9144000" cy="548640"/>
          </a:xfrm>
          <a:prstGeom prst="rect">
            <a:avLst>
              <a:gd name="adj" fmla="val 8333"/>
            </a:avLst>
          </a:prstGeom>
          <a:solidFill>
            <a:srgbClr val="252540"/>
          </a:solidFill>
          <a:ln/>
        </p:spPr>
      </p:sp>
      <p:sp>
        <p:nvSpPr>
          <p:cNvPr id="21" name="Text 18"/>
          <p:cNvSpPr/>
          <p:nvPr/>
        </p:nvSpPr>
        <p:spPr>
          <a:xfrm>
            <a:off x="1554480" y="4617720"/>
            <a:ext cx="457200" cy="548640"/>
          </a:xfrm>
          <a:prstGeom prst="rect">
            <a:avLst/>
          </a:prstGeom>
          <a:noFill/>
          <a:ln/>
        </p:spPr>
        <p:txBody>
          <a:bodyPr wrap="square" rtlCol="0" anchor="ctr"/>
          <a:lstStyle/>
          <a:p>
            <a:pPr algn="ctr" indent="0" marL="0">
              <a:buNone/>
            </a:pPr>
            <a:r>
              <a:rPr lang="en-US" sz="1800" dirty="0">
                <a:solidFill>
                  <a:srgbClr val="2D6A4F"/>
                </a:solidFill>
                <a:latin typeface="Arial" pitchFamily="34" charset="0"/>
                <a:ea typeface="Arial" pitchFamily="34" charset="-122"/>
                <a:cs typeface="Arial" pitchFamily="34" charset="-120"/>
              </a:rPr>
              <a:t>✓</a:t>
            </a:r>
            <a:endParaRPr lang="en-US" sz="1800" dirty="0"/>
          </a:p>
        </p:txBody>
      </p:sp>
      <p:sp>
        <p:nvSpPr>
          <p:cNvPr id="22" name="Text 19"/>
          <p:cNvSpPr/>
          <p:nvPr/>
        </p:nvSpPr>
        <p:spPr>
          <a:xfrm>
            <a:off x="2103120" y="4617720"/>
            <a:ext cx="8229600" cy="548640"/>
          </a:xfrm>
          <a:prstGeom prst="rect">
            <a:avLst/>
          </a:prstGeom>
          <a:noFill/>
          <a:ln/>
        </p:spPr>
        <p:txBody>
          <a:bodyPr wrap="square" rtlCol="0" anchor="ctr"/>
          <a:lstStyle/>
          <a:p>
            <a:pPr indent="0" marL="0">
              <a:buNone/>
            </a:pPr>
            <a:r>
              <a:rPr lang="en-US" sz="1500" strike="sngStrike" dirty="0">
                <a:solidFill>
                  <a:srgbClr val="2D6A4F"/>
                </a:solidFill>
                <a:latin typeface="Arial" pitchFamily="34" charset="0"/>
                <a:ea typeface="Arial" pitchFamily="34" charset="-122"/>
                <a:cs typeface="Arial" pitchFamily="34" charset="-120"/>
              </a:rPr>
              <a:t>Working Replit prototype as proof of concept (WSS1)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p:bgPr>
    </p:bg>
    <p:spTree>
      <p:nvGrpSpPr>
        <p:cNvPr id="1" name=""/>
        <p:cNvGrpSpPr/>
        <p:nvPr/>
      </p:nvGrpSpPr>
      <p:grpSpPr>
        <a:xfrm>
          <a:off x="0" y="0"/>
          <a:ext cx="0" cy="0"/>
          <a:chOff x="0" y="0"/>
          <a:chExt cx="0" cy="0"/>
        </a:xfrm>
      </p:grpSpPr>
      <p:sp>
        <p:nvSpPr>
          <p:cNvPr id="3" name="Text 0"/>
          <p:cNvSpPr/>
          <p:nvPr/>
        </p:nvSpPr>
        <p:spPr>
          <a:xfrm>
            <a:off x="457200" y="1097280"/>
            <a:ext cx="10972800" cy="914400"/>
          </a:xfrm>
          <a:prstGeom prst="rect">
            <a:avLst/>
          </a:prstGeom>
          <a:noFill/>
          <a:ln/>
        </p:spPr>
        <p:txBody>
          <a:bodyPr wrap="square" rtlCol="0" anchor="ctr"/>
          <a:lstStyle/>
          <a:p>
            <a:pPr algn="ctr" indent="0" marL="0">
              <a:buNone/>
            </a:pPr>
            <a:r>
              <a:rPr lang="en-US" sz="4800" b="1" dirty="0">
                <a:solidFill>
                  <a:srgbClr val="4A9EFF"/>
                </a:solidFill>
                <a:latin typeface="Arial" pitchFamily="34" charset="0"/>
                <a:ea typeface="Arial" pitchFamily="34" charset="-122"/>
                <a:cs typeface="Arial" pitchFamily="34" charset="-120"/>
              </a:rPr>
              <a:t>WSS2</a:t>
            </a:r>
            <a:endParaRPr lang="en-US" sz="4800" dirty="0"/>
          </a:p>
        </p:txBody>
      </p:sp>
      <p:sp>
        <p:nvSpPr>
          <p:cNvPr id="4" name="Text 1"/>
          <p:cNvSpPr/>
          <p:nvPr/>
        </p:nvSpPr>
        <p:spPr>
          <a:xfrm>
            <a:off x="457200" y="2011680"/>
            <a:ext cx="10972800" cy="548640"/>
          </a:xfrm>
          <a:prstGeom prst="rect">
            <a:avLst/>
          </a:prstGeom>
          <a:noFill/>
          <a:ln/>
        </p:spPr>
        <p:txBody>
          <a:bodyPr wrap="square" rtlCol="0" anchor="ctr"/>
          <a:lstStyle/>
          <a:p>
            <a:pPr algn="ctr" indent="0" marL="0">
              <a:buNone/>
            </a:pPr>
            <a:r>
              <a:rPr lang="en-US" sz="2200" dirty="0">
                <a:solidFill>
                  <a:srgbClr val="E0E0E0"/>
                </a:solidFill>
                <a:latin typeface="Arial" pitchFamily="34" charset="0"/>
                <a:ea typeface="Arial" pitchFamily="34" charset="-122"/>
                <a:cs typeface="Arial" pitchFamily="34" charset="-120"/>
              </a:rPr>
              <a:t>The Wilderness Survival System</a:t>
            </a:r>
            <a:endParaRPr lang="en-US" sz="2200" dirty="0"/>
          </a:p>
        </p:txBody>
      </p:sp>
      <p:sp>
        <p:nvSpPr>
          <p:cNvPr id="5" name="Shape 2"/>
          <p:cNvSpPr/>
          <p:nvPr/>
        </p:nvSpPr>
        <p:spPr>
          <a:xfrm>
            <a:off x="4114800" y="2743200"/>
            <a:ext cx="3657600" cy="36576"/>
          </a:xfrm>
          <a:prstGeom prst="rect">
            <a:avLst/>
          </a:prstGeom>
          <a:solidFill>
            <a:srgbClr val="4A9EFF"/>
          </a:solidFill>
          <a:ln/>
        </p:spPr>
      </p:sp>
      <p:sp>
        <p:nvSpPr>
          <p:cNvPr id="6" name="Text 3"/>
          <p:cNvSpPr/>
          <p:nvPr/>
        </p:nvSpPr>
        <p:spPr>
          <a:xfrm>
            <a:off x="3200400" y="3017520"/>
            <a:ext cx="5486400" cy="365760"/>
          </a:xfrm>
          <a:prstGeom prst="rect">
            <a:avLst/>
          </a:prstGeom>
          <a:noFill/>
          <a:ln/>
        </p:spPr>
        <p:txBody>
          <a:bodyPr wrap="square" rtlCol="0" anchor="ctr"/>
          <a:lstStyle/>
          <a:p>
            <a:pPr algn="ctr" indent="0" marL="0">
              <a:buNone/>
            </a:pPr>
            <a:r>
              <a:rPr lang="en-US" sz="1500" dirty="0">
                <a:solidFill>
                  <a:srgbClr val="E0E0E0"/>
                </a:solidFill>
                <a:latin typeface="Arial" pitchFamily="34" charset="0"/>
                <a:ea typeface="Arial" pitchFamily="34" charset="-122"/>
                <a:cs typeface="Arial" pitchFamily="34" charset="-120"/>
              </a:rPr>
              <a:t>•  Real-time AI survival simulation</a:t>
            </a:r>
            <a:endParaRPr lang="en-US" sz="1500" dirty="0"/>
          </a:p>
        </p:txBody>
      </p:sp>
      <p:sp>
        <p:nvSpPr>
          <p:cNvPr id="7" name="Text 4"/>
          <p:cNvSpPr/>
          <p:nvPr/>
        </p:nvSpPr>
        <p:spPr>
          <a:xfrm>
            <a:off x="3200400" y="3429000"/>
            <a:ext cx="5486400" cy="365760"/>
          </a:xfrm>
          <a:prstGeom prst="rect">
            <a:avLst/>
          </a:prstGeom>
          <a:noFill/>
          <a:ln/>
        </p:spPr>
        <p:txBody>
          <a:bodyPr wrap="square" rtlCol="0" anchor="ctr"/>
          <a:lstStyle/>
          <a:p>
            <a:pPr algn="ctr" indent="0" marL="0">
              <a:buNone/>
            </a:pPr>
            <a:r>
              <a:rPr lang="en-US" sz="1500" dirty="0">
                <a:solidFill>
                  <a:srgbClr val="E0E0E0"/>
                </a:solidFill>
                <a:latin typeface="Arial" pitchFamily="34" charset="0"/>
                <a:ea typeface="Arial" pitchFamily="34" charset="-122"/>
                <a:cs typeface="Arial" pitchFamily="34" charset="-120"/>
              </a:rPr>
              <a:t>•  Procedural worlds with 5 brain strategies</a:t>
            </a:r>
            <a:endParaRPr lang="en-US" sz="1500" dirty="0"/>
          </a:p>
        </p:txBody>
      </p:sp>
      <p:sp>
        <p:nvSpPr>
          <p:cNvPr id="8" name="Text 5"/>
          <p:cNvSpPr/>
          <p:nvPr/>
        </p:nvSpPr>
        <p:spPr>
          <a:xfrm>
            <a:off x="3200400" y="3840480"/>
            <a:ext cx="5486400" cy="365760"/>
          </a:xfrm>
          <a:prstGeom prst="rect">
            <a:avLst/>
          </a:prstGeom>
          <a:noFill/>
          <a:ln/>
        </p:spPr>
        <p:txBody>
          <a:bodyPr wrap="square" rtlCol="0" anchor="ctr"/>
          <a:lstStyle/>
          <a:p>
            <a:pPr algn="ctr" indent="0" marL="0">
              <a:buNone/>
            </a:pPr>
            <a:r>
              <a:rPr lang="en-US" sz="1500" dirty="0">
                <a:solidFill>
                  <a:srgbClr val="E0E0E0"/>
                </a:solidFill>
                <a:latin typeface="Arial" pitchFamily="34" charset="0"/>
                <a:ea typeface="Arial" pitchFamily="34" charset="-122"/>
                <a:cs typeface="Arial" pitchFamily="34" charset="-120"/>
              </a:rPr>
              <a:t>•  Full trading economy</a:t>
            </a:r>
            <a:endParaRPr lang="en-US" sz="1500" dirty="0"/>
          </a:p>
        </p:txBody>
      </p:sp>
      <p:sp>
        <p:nvSpPr>
          <p:cNvPr id="9" name="Text 6"/>
          <p:cNvSpPr/>
          <p:nvPr/>
        </p:nvSpPr>
        <p:spPr>
          <a:xfrm>
            <a:off x="3200400" y="4251960"/>
            <a:ext cx="5486400" cy="365760"/>
          </a:xfrm>
          <a:prstGeom prst="rect">
            <a:avLst/>
          </a:prstGeom>
          <a:noFill/>
          <a:ln/>
        </p:spPr>
        <p:txBody>
          <a:bodyPr wrap="square" rtlCol="0" anchor="ctr"/>
          <a:lstStyle/>
          <a:p>
            <a:pPr algn="ctr" indent="0" marL="0">
              <a:buNone/>
            </a:pPr>
            <a:r>
              <a:rPr lang="en-US" sz="1500" dirty="0">
                <a:solidFill>
                  <a:srgbClr val="E0E0E0"/>
                </a:solidFill>
                <a:latin typeface="Arial" pitchFamily="34" charset="0"/>
                <a:ea typeface="Arial" pitchFamily="34" charset="-122"/>
                <a:cs typeface="Arial" pitchFamily="34" charset="-120"/>
              </a:rPr>
              <a:t>•  Working prototype available now</a:t>
            </a:r>
            <a:endParaRPr lang="en-US" sz="1500" dirty="0"/>
          </a:p>
        </p:txBody>
      </p:sp>
      <p:sp>
        <p:nvSpPr>
          <p:cNvPr id="10" name="Text 7"/>
          <p:cNvSpPr/>
          <p:nvPr/>
        </p:nvSpPr>
        <p:spPr>
          <a:xfrm>
            <a:off x="457200" y="4846320"/>
            <a:ext cx="10972800" cy="457200"/>
          </a:xfrm>
          <a:prstGeom prst="rect">
            <a:avLst/>
          </a:prstGeom>
          <a:noFill/>
          <a:ln/>
        </p:spPr>
        <p:txBody>
          <a:bodyPr wrap="square" rtlCol="0" anchor="ctr"/>
          <a:lstStyle/>
          <a:p>
            <a:pPr algn="ctr" indent="0" marL="0">
              <a:buNone/>
            </a:pPr>
            <a:r>
              <a:rPr lang="en-US" sz="1600" u="sng" dirty="0">
                <a:solidFill>
                  <a:srgbClr val="4A9EFF"/>
                </a:solidFill>
                <a:latin typeface="Arial" pitchFamily="34" charset="0"/>
                <a:ea typeface="Arial" pitchFamily="34" charset="-122"/>
                <a:cs typeface="Arial" pitchFamily="34" charset="-120"/>
              </a:rPr>
              <a:t>Demo: wss-revised.replit.app</a:t>
            </a:r>
            <a:endParaRPr lang="en-US" sz="1600" dirty="0"/>
          </a:p>
        </p:txBody>
      </p:sp>
      <p:sp>
        <p:nvSpPr>
          <p:cNvPr id="11" name="Text 8"/>
          <p:cNvSpPr/>
          <p:nvPr/>
        </p:nvSpPr>
        <p:spPr>
          <a:xfrm>
            <a:off x="457200" y="5486400"/>
            <a:ext cx="10972800" cy="457200"/>
          </a:xfrm>
          <a:prstGeom prst="rect">
            <a:avLst/>
          </a:prstGeom>
          <a:noFill/>
          <a:ln/>
        </p:spPr>
        <p:txBody>
          <a:bodyPr wrap="square" rtlCol="0" anchor="ctr"/>
          <a:lstStyle/>
          <a:p>
            <a:pPr algn="ctr" indent="0" marL="0">
              <a:buNone/>
            </a:pPr>
            <a:r>
              <a:rPr lang="en-US" sz="1600" b="1" dirty="0">
                <a:solidFill>
                  <a:srgbClr val="A0A0B0"/>
                </a:solidFill>
                <a:latin typeface="Arial" pitchFamily="34" charset="0"/>
                <a:ea typeface="Arial" pitchFamily="34" charset="-122"/>
                <a:cs typeface="Arial" pitchFamily="34" charset="-120"/>
              </a:rPr>
              <a:t>Casey Wong  &amp;  Raymond Julian</a:t>
            </a:r>
            <a:endParaRPr lang="en-US" sz="1600" dirty="0"/>
          </a:p>
        </p:txBody>
      </p:sp>
      <p:sp>
        <p:nvSpPr>
          <p:cNvPr id="12" name="Text 9"/>
          <p:cNvSpPr/>
          <p:nvPr/>
        </p:nvSpPr>
        <p:spPr>
          <a:xfrm>
            <a:off x="457200" y="6035040"/>
            <a:ext cx="10972800" cy="457200"/>
          </a:xfrm>
          <a:prstGeom prst="rect">
            <a:avLst/>
          </a:prstGeom>
          <a:noFill/>
          <a:ln/>
        </p:spPr>
        <p:txBody>
          <a:bodyPr wrap="square" rtlCol="0" anchor="ctr"/>
          <a:lstStyle/>
          <a:p>
            <a:pPr algn="ctr" indent="0" marL="0">
              <a:buNone/>
            </a:pPr>
            <a:r>
              <a:rPr lang="en-US" sz="2000" b="1" dirty="0">
                <a:solidFill>
                  <a:srgbClr val="E0E0E0"/>
                </a:solidFill>
                <a:latin typeface="Arial" pitchFamily="34" charset="0"/>
                <a:ea typeface="Arial" pitchFamily="34" charset="-122"/>
                <a:cs typeface="Arial"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WSS2 - A Forgotten Place</dc:title>
  <dc:subject>PptxGenJS Presentation</dc:subject>
  <dc:creator>Casey Wong</dc:creator>
  <cp:lastModifiedBy>Casey Wong</cp:lastModifiedBy>
  <cp:revision>1</cp:revision>
  <dcterms:created xsi:type="dcterms:W3CDTF">2026-02-24T02:46:25Z</dcterms:created>
  <dcterms:modified xsi:type="dcterms:W3CDTF">2026-02-24T02:46:25Z</dcterms:modified>
</cp:coreProperties>
</file>