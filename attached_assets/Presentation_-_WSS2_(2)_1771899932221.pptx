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Georgia Pro Light" charset="1" panose="02040302050405020303"/>
      <p:regular r:id="rId21"/>
    </p:embeddedFont>
    <p:embeddedFont>
      <p:font typeface="DM Sans" charset="1" panose="00000000000000000000"/>
      <p:regular r:id="rId22"/>
    </p:embeddedFont>
    <p:embeddedFont>
      <p:font typeface="DM Sans Bold" charset="1" panose="00000000000000000000"/>
      <p:regular r:id="rId23"/>
    </p:embeddedFont>
    <p:embeddedFont>
      <p:font typeface="Georgia Pro Bold" charset="1" panose="02040802050405020203"/>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notesSlides/notesSlide4.xml" Type="http://schemas.openxmlformats.org/officeDocument/2006/relationships/notesSlide"/><Relationship Id="rId27" Target="notesSlides/notesSlide5.xml" Type="http://schemas.openxmlformats.org/officeDocument/2006/relationships/notesSlide"/><Relationship Id="rId28" Target="notesSlides/notesSlide6.xml" Type="http://schemas.openxmlformats.org/officeDocument/2006/relationships/notesSlide"/><Relationship Id="rId29" Target="notesSlides/notesSlide7.xml" Type="http://schemas.openxmlformats.org/officeDocument/2006/relationships/notesSlide"/><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32" Target="notesSlides/notesSlide10.xml" Type="http://schemas.openxmlformats.org/officeDocument/2006/relationships/notesSlide"/><Relationship Id="rId33" Target="notesSlides/notesSlide11.xml" Type="http://schemas.openxmlformats.org/officeDocument/2006/relationships/notesSlide"/><Relationship Id="rId34" Target="fonts/font34.fntdata" Type="http://schemas.openxmlformats.org/officeDocument/2006/relationships/font"/><Relationship Id="rId35" Target="notesSlides/notesSlide1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Hi everyone, I'm Casey Wong, and this is my teammate Raymond Julian. Today we're presenting WSS2 -- the Wilderness Survival System. It's a feature-rich survival simulation where AI agents navigate procedurally generated terrain, manage resources, trade with merchants, and try to survive. Think of it as a zero-player game where you watch AI make decisions in real time. We have a working prototype live right now that I'll demo later.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what is WSS2? At its core, it's a real-time multi-agent survival simulation. You drop AI agents into a procedurally generated wilderness and watch them figure out how to survive. They explore, gather resources, avoid hazards, and trade with NPC merchants -- all on their own. What makes this different from other AI simulations is our modular architecture. We separate perception from decision-making. The Vision system handles what the agent can see, and the Brain system decides what to do about it. This means we can swap out different brain strategies and compare how they perform in the same environment.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two main goals for this project. First, a stable core loop -- meaning the simulation runs reliably, agents can complete objectives, find the portal, and evacuate. It needs to be replayable, so every time you generate a new world, it's a different experience. Second, observable AI behavior. This is big for us. We want you to be able to watch an agent and understand WHY it made a decision. Not just "it moved left" but "it moved left because it saw water ahead and its thirst was high." That's the explainable AI aspect -- you can actually debug and analyze the agent's thought process.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heart of our AI system -- the Sense-Decide-Act loop. Every tick of the simulation, each agent goes through these three phases. SENSE: The agent looks around using its Vision system. It checks what terrain is nearby, spots traders, finds loot, detects threats -- all within its vision range. DECIDE: Based on what it sensed, the Brain picks an intent. Should I explore? Should I trade? Should I run? This is where the different brain strategies really matter. ACT: The agent executes its decision -- it moves, picks up items, enters a trade, or fights. Then the cycle repeats. This runs at 60 ticks per second in the full version, so decisions happen fast.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slide defines what we've locked in for the scope. We're not trying to build everything at once. The simulation targets 60 ticks per second for smooth real-time action. The win condition is portal evacuation -- agents need to find and reach the exit portal to survive. And fog of war means agents can only see what's within their vision range, so they have to explore to discover the map. These constraints keep the project focused and achievable within our semester timeline.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world itself is procedurally generated -- meaning every playthrough has a unique map. You saw in the prototype configuration screen that you can set map width and height using sliders. The terrain includes grass, bushes, mountains, desert, water, and swamp -- each with different movement costs and effects on the agent. Mountains are hard to cross, water replenishes thirst, desert drains stamina faster. This makes every map a different puzzle for the AI to solve.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Resources and economy are a big part of survival. Loot is scattered across the map in buildings and outdoor areas. Agents can also get items from trading with merchants. There's a quality scale system -- items range from basic to rare, and the quality affects how useful they are. This ties directly into the trading system you'll see in the demo. An agent might find a health potion but decide to trade it for food because their hunger is more urgent. The economy creates interesting decision-making for the AI.</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Combat is part of the survival challenge. Agents can encounter threats in the wilderness and need to fight or flee. We have both melee and ranged weapons with durability mechanics -- so weapons break over time and agents need to manage their arsenal. Friendly fire is also a thing, which forces the AI to be smart about positioning. The weapon system is expandable -- we can add new weapon types without rewriting the combat core. This is part of our plan for later sprints, but the foundation is already in place.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where it gets really cool. The brain model runs on a tick-based system -- Sense, Decide, Act, every single tick. But here's the key innovation: we have 6 different brain types. Balanced tries to do a bit of everything. Explorer prioritizes discovering new tiles. Cautious plays it safe and avoids risk. Aggressive charges into threats. Hoarder stockpiles resources. And Trader focuses on finding and negotiating with merchants. You can actually pick which brain to use in the prototype -- I'll show you that in the live demo. The tick rate is configurable too, so you can speed up or slow down the simulation to observe behavior. [TRANSITION: Let me switch over to the live demo now and show you this in action.]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[After the live demo, come back to slides.] So here's our plan going forward. We're in Sprint 1 right now -- this presentation, the business plan, and the prototype you just saw. Sprint 2 in March is Phase 0, where we build the core architecture -- the map system, entity framework, and base AI pipeline in the actual codebase. Sprint 3 in April tackles the gameplay loop, the full brain system with all 6 types, and the trading mechanics. Sprint 4 in May is polish -- the Director AI that manages difficulty, UI improvements, and our final presentation. For risks -- the biggest one is scope creep. WSS started as a simpler project and the vision keeps growing. We're managing that by locking scope per sprint. AI complexity vs. timeline is real, and it's just the two of us, so bandwidth is a factor.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how do we know we've succeeded? These are our measurable milestones. A stable core loop running at 60 ticks per second -- not crashing, not freezing. AI agents that you can actually watch and understand their decisions. The Vision-Brain architecture working as designed -- modular, swappable, testable. All 6 brain types showing genuinely different behavior in the same environment. A functional trading system where agents negotiate with NPCs. And the big one for today -- we already have a working Replit prototype as proof of concept. That's what you just saw in the demo. We're not starting from zero. We have a foundation and we're building WSS2 on top of 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That's WSS2 -- the Wilderness Survival System. To recap: it's a real-time AI survival simulation with procedural worlds, 6 different brain strategies, a full trading economy, and a working prototype you can try right now at wss-revised.replit.app. We're Casey Wong and Raymond Julian, and we're excited to keep building this over the semester. The live demo link is right there if you want to try it yourself. Any questions?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5.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6.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0" y="0"/>
            <a:ext cx="8991600" cy="10287000"/>
            <a:chOff x="0" y="0"/>
            <a:chExt cx="1035548" cy="1184737"/>
          </a:xfrm>
        </p:grpSpPr>
        <p:sp>
          <p:nvSpPr>
            <p:cNvPr name="Freeform 3" id="3"/>
            <p:cNvSpPr/>
            <p:nvPr/>
          </p:nvSpPr>
          <p:spPr>
            <a:xfrm flipH="false" flipV="false" rot="0">
              <a:off x="0" y="0"/>
              <a:ext cx="1035548" cy="1184737"/>
            </a:xfrm>
            <a:custGeom>
              <a:avLst/>
              <a:gdLst/>
              <a:ahLst/>
              <a:cxnLst/>
              <a:rect r="r" b="b" t="t" l="l"/>
              <a:pathLst>
                <a:path h="1184737" w="1035548">
                  <a:moveTo>
                    <a:pt x="0" y="0"/>
                  </a:moveTo>
                  <a:lnTo>
                    <a:pt x="1035548" y="0"/>
                  </a:lnTo>
                  <a:lnTo>
                    <a:pt x="1035548" y="1184737"/>
                  </a:lnTo>
                  <a:lnTo>
                    <a:pt x="0" y="1184737"/>
                  </a:lnTo>
                  <a:close/>
                </a:path>
              </a:pathLst>
            </a:custGeom>
            <a:blipFill>
              <a:blip r:embed="rId3"/>
              <a:stretch>
                <a:fillRect l="0" t="-378" r="0" b="-378"/>
              </a:stretch>
            </a:blipFill>
          </p:spPr>
        </p:sp>
      </p:grpSp>
      <p:grpSp>
        <p:nvGrpSpPr>
          <p:cNvPr name="Group 4" id="4"/>
          <p:cNvGrpSpPr/>
          <p:nvPr/>
        </p:nvGrpSpPr>
        <p:grpSpPr>
          <a:xfrm rot="0">
            <a:off x="10744200" y="666750"/>
            <a:ext cx="6877050" cy="585084"/>
            <a:chOff x="0" y="0"/>
            <a:chExt cx="9169400" cy="780112"/>
          </a:xfrm>
        </p:grpSpPr>
        <p:sp>
          <p:nvSpPr>
            <p:cNvPr name="Freeform 5" id="5"/>
            <p:cNvSpPr/>
            <p:nvPr/>
          </p:nvSpPr>
          <p:spPr>
            <a:xfrm flipH="true" flipV="false" rot="-5400000">
              <a:off x="36553" y="74861"/>
              <a:ext cx="555143" cy="628248"/>
            </a:xfrm>
            <a:custGeom>
              <a:avLst/>
              <a:gdLst/>
              <a:ahLst/>
              <a:cxnLst/>
              <a:rect r="r" b="b" t="t" l="l"/>
              <a:pathLst>
                <a:path h="628248" w="555143">
                  <a:moveTo>
                    <a:pt x="555143" y="0"/>
                  </a:moveTo>
                  <a:lnTo>
                    <a:pt x="0" y="0"/>
                  </a:lnTo>
                  <a:lnTo>
                    <a:pt x="0" y="628248"/>
                  </a:lnTo>
                  <a:lnTo>
                    <a:pt x="555143" y="628248"/>
                  </a:lnTo>
                  <a:lnTo>
                    <a:pt x="55514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795304" y="95250"/>
              <a:ext cx="8374096" cy="684862"/>
            </a:xfrm>
            <a:prstGeom prst="rect">
              <a:avLst/>
            </a:prstGeom>
          </p:spPr>
          <p:txBody>
            <a:bodyPr anchor="t" rtlCol="false" tIns="0" lIns="0" bIns="0" rIns="0">
              <a:spAutoFit/>
            </a:bodyPr>
            <a:lstStyle/>
            <a:p>
              <a:pPr algn="l" marL="0" indent="0" lvl="0">
                <a:lnSpc>
                  <a:spcPts val="3555"/>
                </a:lnSpc>
              </a:pPr>
              <a:r>
                <a:rPr lang="en-US" sz="3864" spc="-77">
                  <a:solidFill>
                    <a:srgbClr val="1D1C24"/>
                  </a:solidFill>
                  <a:latin typeface="Georgia Pro Light"/>
                  <a:ea typeface="Georgia Pro Light"/>
                  <a:cs typeface="Georgia Pro Light"/>
                  <a:sym typeface="Georgia Pro Light"/>
                </a:rPr>
                <a:t>Wilderness Survival Systems</a:t>
              </a:r>
            </a:p>
          </p:txBody>
        </p:sp>
      </p:grpSp>
      <p:grpSp>
        <p:nvGrpSpPr>
          <p:cNvPr name="Group 7" id="7"/>
          <p:cNvGrpSpPr/>
          <p:nvPr/>
        </p:nvGrpSpPr>
        <p:grpSpPr>
          <a:xfrm rot="0">
            <a:off x="10734675" y="1562100"/>
            <a:ext cx="6886575" cy="2375603"/>
            <a:chOff x="0" y="0"/>
            <a:chExt cx="9182100" cy="3167470"/>
          </a:xfrm>
        </p:grpSpPr>
        <p:sp>
          <p:nvSpPr>
            <p:cNvPr name="TextBox 8" id="8"/>
            <p:cNvSpPr txBox="true"/>
            <p:nvPr/>
          </p:nvSpPr>
          <p:spPr>
            <a:xfrm rot="0">
              <a:off x="0" y="200025"/>
              <a:ext cx="9182100" cy="1920867"/>
            </a:xfrm>
            <a:prstGeom prst="rect">
              <a:avLst/>
            </a:prstGeom>
          </p:spPr>
          <p:txBody>
            <a:bodyPr anchor="t" rtlCol="false" tIns="0" lIns="0" bIns="0" rIns="0">
              <a:spAutoFit/>
            </a:bodyPr>
            <a:lstStyle/>
            <a:p>
              <a:pPr algn="l" marL="0" indent="0" lvl="0">
                <a:lnSpc>
                  <a:spcPts val="10499"/>
                </a:lnSpc>
              </a:pPr>
              <a:r>
                <a:rPr lang="en-US" sz="10499">
                  <a:solidFill>
                    <a:srgbClr val="1D1C24"/>
                  </a:solidFill>
                  <a:latin typeface="Georgia Pro Light"/>
                  <a:ea typeface="Georgia Pro Light"/>
                  <a:cs typeface="Georgia Pro Light"/>
                  <a:sym typeface="Georgia Pro Light"/>
                </a:rPr>
                <a:t>WSS2</a:t>
              </a:r>
            </a:p>
          </p:txBody>
        </p:sp>
        <p:sp>
          <p:nvSpPr>
            <p:cNvPr name="TextBox 9" id="9"/>
            <p:cNvSpPr txBox="true"/>
            <p:nvPr/>
          </p:nvSpPr>
          <p:spPr>
            <a:xfrm rot="0">
              <a:off x="0" y="2371815"/>
              <a:ext cx="9172670" cy="795655"/>
            </a:xfrm>
            <a:prstGeom prst="rect">
              <a:avLst/>
            </a:prstGeom>
          </p:spPr>
          <p:txBody>
            <a:bodyPr anchor="t" rtlCol="false" tIns="0" lIns="0" bIns="0" rIns="0">
              <a:spAutoFit/>
            </a:bodyPr>
            <a:lstStyle/>
            <a:p>
              <a:pPr algn="l" marL="0" indent="0" lvl="0">
                <a:lnSpc>
                  <a:spcPts val="5039"/>
                </a:lnSpc>
              </a:pPr>
              <a:r>
                <a:rPr lang="en-US" sz="3599">
                  <a:solidFill>
                    <a:srgbClr val="1D1C24"/>
                  </a:solidFill>
                  <a:latin typeface="DM Sans"/>
                  <a:ea typeface="DM Sans"/>
                  <a:cs typeface="DM Sans"/>
                  <a:sym typeface="DM Sans"/>
                </a:rPr>
                <a:t>Feature-Rich Survival Simulation</a:t>
              </a:r>
            </a:p>
          </p:txBody>
        </p:sp>
      </p:grpSp>
      <p:grpSp>
        <p:nvGrpSpPr>
          <p:cNvPr name="Group 10" id="10"/>
          <p:cNvGrpSpPr/>
          <p:nvPr/>
        </p:nvGrpSpPr>
        <p:grpSpPr>
          <a:xfrm rot="0">
            <a:off x="10744200" y="8740903"/>
            <a:ext cx="5743575" cy="888872"/>
            <a:chOff x="0" y="0"/>
            <a:chExt cx="7658100" cy="1185162"/>
          </a:xfrm>
        </p:grpSpPr>
        <p:sp>
          <p:nvSpPr>
            <p:cNvPr name="TextBox 11" id="11"/>
            <p:cNvSpPr txBox="true"/>
            <p:nvPr/>
          </p:nvSpPr>
          <p:spPr>
            <a:xfrm rot="0">
              <a:off x="0" y="691344"/>
              <a:ext cx="7658100" cy="493818"/>
            </a:xfrm>
            <a:prstGeom prst="rect">
              <a:avLst/>
            </a:prstGeom>
          </p:spPr>
          <p:txBody>
            <a:bodyPr anchor="t" rtlCol="false" tIns="0" lIns="0" bIns="0" rIns="0">
              <a:spAutoFit/>
            </a:bodyPr>
            <a:lstStyle/>
            <a:p>
              <a:pPr algn="l" marL="0" indent="0" lvl="0">
                <a:lnSpc>
                  <a:spcPts val="3080"/>
                </a:lnSpc>
                <a:spcBef>
                  <a:spcPct val="0"/>
                </a:spcBef>
              </a:pPr>
              <a:r>
                <a:rPr lang="en-US" sz="2200">
                  <a:solidFill>
                    <a:srgbClr val="1D1C24"/>
                  </a:solidFill>
                  <a:latin typeface="DM Sans"/>
                  <a:ea typeface="DM Sans"/>
                  <a:cs typeface="DM Sans"/>
                  <a:sym typeface="DM Sans"/>
                </a:rPr>
                <a:t>Ca</a:t>
              </a:r>
              <a:r>
                <a:rPr lang="en-US" sz="2200">
                  <a:solidFill>
                    <a:srgbClr val="1D1C24"/>
                  </a:solidFill>
                  <a:latin typeface="DM Sans"/>
                  <a:ea typeface="DM Sans"/>
                  <a:cs typeface="DM Sans"/>
                  <a:sym typeface="DM Sans"/>
                </a:rPr>
                <a:t>sey Wong</a:t>
              </a:r>
            </a:p>
          </p:txBody>
        </p:sp>
        <p:sp>
          <p:nvSpPr>
            <p:cNvPr name="TextBox 12" id="12"/>
            <p:cNvSpPr txBox="true"/>
            <p:nvPr/>
          </p:nvSpPr>
          <p:spPr>
            <a:xfrm rot="0">
              <a:off x="0" y="-47625"/>
              <a:ext cx="7658100" cy="569172"/>
            </a:xfrm>
            <a:prstGeom prst="rect">
              <a:avLst/>
            </a:prstGeom>
          </p:spPr>
          <p:txBody>
            <a:bodyPr anchor="t" rtlCol="false" tIns="0" lIns="0" bIns="0" rIns="0">
              <a:spAutoFit/>
            </a:bodyPr>
            <a:lstStyle/>
            <a:p>
              <a:pPr algn="l" marL="0" indent="0" lvl="0">
                <a:lnSpc>
                  <a:spcPts val="3640"/>
                </a:lnSpc>
                <a:spcBef>
                  <a:spcPct val="0"/>
                </a:spcBef>
              </a:pPr>
              <a:r>
                <a:rPr lang="en-US" b="true" sz="2600">
                  <a:solidFill>
                    <a:srgbClr val="1D1C24"/>
                  </a:solidFill>
                  <a:latin typeface="DM Sans Bold"/>
                  <a:ea typeface="DM Sans Bold"/>
                  <a:cs typeface="DM Sans Bold"/>
                  <a:sym typeface="DM Sans Bold"/>
                </a:rPr>
                <a:t>PRESENTED BY</a:t>
              </a:r>
            </a:p>
          </p:txBody>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1D1C24"/>
        </a:solidFill>
      </p:bgPr>
    </p:bg>
    <p:spTree>
      <p:nvGrpSpPr>
        <p:cNvPr id="1" name=""/>
        <p:cNvGrpSpPr/>
        <p:nvPr/>
      </p:nvGrpSpPr>
      <p:grpSpPr>
        <a:xfrm>
          <a:off x="0" y="0"/>
          <a:ext cx="0" cy="0"/>
          <a:chOff x="0" y="0"/>
          <a:chExt cx="0" cy="0"/>
        </a:xfrm>
      </p:grpSpPr>
      <p:sp>
        <p:nvSpPr>
          <p:cNvPr name="TextBox 2" id="2"/>
          <p:cNvSpPr txBox="true"/>
          <p:nvPr/>
        </p:nvSpPr>
        <p:spPr>
          <a:xfrm rot="0">
            <a:off x="666750" y="733425"/>
            <a:ext cx="5753100" cy="2263778"/>
          </a:xfrm>
          <a:prstGeom prst="rect">
            <a:avLst/>
          </a:prstGeom>
        </p:spPr>
        <p:txBody>
          <a:bodyPr anchor="t" rtlCol="false" tIns="0" lIns="0" bIns="0" rIns="0">
            <a:spAutoFit/>
          </a:bodyPr>
          <a:lstStyle/>
          <a:p>
            <a:pPr algn="l" marL="0" indent="0" lvl="0">
              <a:lnSpc>
                <a:spcPts val="8800"/>
              </a:lnSpc>
              <a:spcBef>
                <a:spcPct val="0"/>
              </a:spcBef>
            </a:pPr>
            <a:r>
              <a:rPr lang="en-US" sz="8000">
                <a:solidFill>
                  <a:srgbClr val="F1F1F1"/>
                </a:solidFill>
                <a:latin typeface="Georgia Pro Light"/>
                <a:ea typeface="Georgia Pro Light"/>
                <a:cs typeface="Georgia Pro Light"/>
                <a:sym typeface="Georgia Pro Light"/>
              </a:rPr>
              <a:t>Executive Pitch</a:t>
            </a:r>
          </a:p>
        </p:txBody>
      </p:sp>
      <p:sp>
        <p:nvSpPr>
          <p:cNvPr name="TextBox 3" id="3"/>
          <p:cNvSpPr txBox="true"/>
          <p:nvPr/>
        </p:nvSpPr>
        <p:spPr>
          <a:xfrm rot="0">
            <a:off x="9296400" y="2409825"/>
            <a:ext cx="7191375" cy="1442752"/>
          </a:xfrm>
          <a:prstGeom prst="rect">
            <a:avLst/>
          </a:prstGeom>
        </p:spPr>
        <p:txBody>
          <a:bodyPr anchor="t" rtlCol="false" tIns="0" lIns="0" bIns="0" rIns="0">
            <a:spAutoFit/>
          </a:bodyPr>
          <a:lstStyle/>
          <a:p>
            <a:pPr algn="l" marL="0" indent="0" lvl="0">
              <a:lnSpc>
                <a:spcPts val="2903"/>
              </a:lnSpc>
            </a:pPr>
            <a:r>
              <a:rPr lang="en-US" sz="2073">
                <a:solidFill>
                  <a:srgbClr val="F1F1F1"/>
                </a:solidFill>
                <a:latin typeface="DM Sans"/>
                <a:ea typeface="DM Sans"/>
                <a:cs typeface="DM Sans"/>
                <a:sym typeface="DM Sans"/>
              </a:rPr>
              <a:t>WSS2 offers an engaging </a:t>
            </a:r>
            <a:r>
              <a:rPr lang="en-US" b="true" sz="2073">
                <a:solidFill>
                  <a:srgbClr val="F1F1F1"/>
                </a:solidFill>
                <a:latin typeface="DM Sans Bold"/>
                <a:ea typeface="DM Sans Bold"/>
                <a:cs typeface="DM Sans Bold"/>
                <a:sym typeface="DM Sans Bold"/>
              </a:rPr>
              <a:t>real-time multi-agent survival simulation</a:t>
            </a:r>
            <a:r>
              <a:rPr lang="en-US" sz="2073">
                <a:solidFill>
                  <a:srgbClr val="F1F1F1"/>
                </a:solidFill>
                <a:latin typeface="DM Sans"/>
                <a:ea typeface="DM Sans"/>
                <a:cs typeface="DM Sans"/>
                <a:sym typeface="DM Sans"/>
              </a:rPr>
              <a:t>, allowing players to explore, manage resources, and complete objectives while navigating a rich wilderness environment.</a:t>
            </a:r>
          </a:p>
        </p:txBody>
      </p:sp>
      <p:sp>
        <p:nvSpPr>
          <p:cNvPr name="TextBox 4" id="4"/>
          <p:cNvSpPr txBox="true"/>
          <p:nvPr/>
        </p:nvSpPr>
        <p:spPr>
          <a:xfrm rot="0">
            <a:off x="9296400" y="1514475"/>
            <a:ext cx="7191375" cy="438785"/>
          </a:xfrm>
          <a:prstGeom prst="rect">
            <a:avLst/>
          </a:prstGeom>
        </p:spPr>
        <p:txBody>
          <a:bodyPr anchor="t" rtlCol="false" tIns="0" lIns="0" bIns="0" rIns="0">
            <a:spAutoFit/>
          </a:bodyPr>
          <a:lstStyle/>
          <a:p>
            <a:pPr algn="l" marL="0" indent="0" lvl="0">
              <a:lnSpc>
                <a:spcPts val="3640"/>
              </a:lnSpc>
            </a:pPr>
            <a:r>
              <a:rPr lang="en-US" b="true" sz="2600">
                <a:solidFill>
                  <a:srgbClr val="F1F1F1"/>
                </a:solidFill>
                <a:latin typeface="DM Sans Bold"/>
                <a:ea typeface="DM Sans Bold"/>
                <a:cs typeface="DM Sans Bold"/>
                <a:sym typeface="DM Sans Bold"/>
              </a:rPr>
              <a:t>REAL-TIME SIMULATION</a:t>
            </a:r>
          </a:p>
        </p:txBody>
      </p:sp>
      <p:sp>
        <p:nvSpPr>
          <p:cNvPr name="TextBox 5" id="5"/>
          <p:cNvSpPr txBox="true"/>
          <p:nvPr/>
        </p:nvSpPr>
        <p:spPr>
          <a:xfrm rot="0">
            <a:off x="9296400" y="5095875"/>
            <a:ext cx="7191375" cy="1442752"/>
          </a:xfrm>
          <a:prstGeom prst="rect">
            <a:avLst/>
          </a:prstGeom>
        </p:spPr>
        <p:txBody>
          <a:bodyPr anchor="t" rtlCol="false" tIns="0" lIns="0" bIns="0" rIns="0">
            <a:spAutoFit/>
          </a:bodyPr>
          <a:lstStyle/>
          <a:p>
            <a:pPr algn="l" marL="0" indent="0" lvl="0">
              <a:lnSpc>
                <a:spcPts val="2903"/>
              </a:lnSpc>
            </a:pPr>
            <a:r>
              <a:rPr lang="en-US" sz="2073">
                <a:solidFill>
                  <a:srgbClr val="F1F1F1"/>
                </a:solidFill>
                <a:latin typeface="DM Sans"/>
                <a:ea typeface="DM Sans"/>
                <a:cs typeface="DM Sans"/>
                <a:sym typeface="DM Sans"/>
              </a:rPr>
              <a:t>The unique </a:t>
            </a:r>
            <a:r>
              <a:rPr lang="en-US" b="true" sz="2073">
                <a:solidFill>
                  <a:srgbClr val="F1F1F1"/>
                </a:solidFill>
                <a:latin typeface="DM Sans Bold"/>
                <a:ea typeface="DM Sans Bold"/>
                <a:cs typeface="DM Sans Bold"/>
                <a:sym typeface="DM Sans Bold"/>
              </a:rPr>
              <a:t>modular AI architecture</a:t>
            </a:r>
            <a:r>
              <a:rPr lang="en-US" sz="2073">
                <a:solidFill>
                  <a:srgbClr val="F1F1F1"/>
                </a:solidFill>
                <a:latin typeface="DM Sans"/>
                <a:ea typeface="DM Sans"/>
                <a:cs typeface="DM Sans"/>
                <a:sym typeface="DM Sans"/>
              </a:rPr>
              <a:t> separates perception from decision-making, enabling measurable strategy comparisons and providing deep insights into AI behavior dynamics within the simulation.</a:t>
            </a:r>
          </a:p>
        </p:txBody>
      </p:sp>
      <p:sp>
        <p:nvSpPr>
          <p:cNvPr name="TextBox 6" id="6"/>
          <p:cNvSpPr txBox="true"/>
          <p:nvPr/>
        </p:nvSpPr>
        <p:spPr>
          <a:xfrm rot="0">
            <a:off x="9296400" y="4200525"/>
            <a:ext cx="7191375" cy="438785"/>
          </a:xfrm>
          <a:prstGeom prst="rect">
            <a:avLst/>
          </a:prstGeom>
        </p:spPr>
        <p:txBody>
          <a:bodyPr anchor="t" rtlCol="false" tIns="0" lIns="0" bIns="0" rIns="0">
            <a:spAutoFit/>
          </a:bodyPr>
          <a:lstStyle/>
          <a:p>
            <a:pPr algn="l" marL="0" indent="0" lvl="0">
              <a:lnSpc>
                <a:spcPts val="3640"/>
              </a:lnSpc>
            </a:pPr>
            <a:r>
              <a:rPr lang="en-US" b="true" sz="2600">
                <a:solidFill>
                  <a:srgbClr val="F1F1F1"/>
                </a:solidFill>
                <a:latin typeface="DM Sans Bold"/>
                <a:ea typeface="DM Sans Bold"/>
                <a:cs typeface="DM Sans Bold"/>
                <a:sym typeface="DM Sans Bold"/>
              </a:rPr>
              <a:t>MODULAR AI ARCHITECTURE</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1D1C24"/>
        </a:solidFill>
      </p:bgPr>
    </p:bg>
    <p:spTree>
      <p:nvGrpSpPr>
        <p:cNvPr id="1" name=""/>
        <p:cNvGrpSpPr/>
        <p:nvPr/>
      </p:nvGrpSpPr>
      <p:grpSpPr>
        <a:xfrm>
          <a:off x="0" y="0"/>
          <a:ext cx="0" cy="0"/>
          <a:chOff x="0" y="0"/>
          <a:chExt cx="0" cy="0"/>
        </a:xfrm>
      </p:grpSpPr>
      <p:sp>
        <p:nvSpPr>
          <p:cNvPr name="TextBox 2" id="2"/>
          <p:cNvSpPr txBox="true"/>
          <p:nvPr/>
        </p:nvSpPr>
        <p:spPr>
          <a:xfrm rot="0">
            <a:off x="666750" y="733425"/>
            <a:ext cx="5753100" cy="3378203"/>
          </a:xfrm>
          <a:prstGeom prst="rect">
            <a:avLst/>
          </a:prstGeom>
        </p:spPr>
        <p:txBody>
          <a:bodyPr anchor="t" rtlCol="false" tIns="0" lIns="0" bIns="0" rIns="0">
            <a:spAutoFit/>
          </a:bodyPr>
          <a:lstStyle/>
          <a:p>
            <a:pPr algn="l" marL="0" indent="0" lvl="0">
              <a:lnSpc>
                <a:spcPts val="8800"/>
              </a:lnSpc>
              <a:spcBef>
                <a:spcPct val="0"/>
              </a:spcBef>
            </a:pPr>
            <a:r>
              <a:rPr lang="en-US" sz="8000">
                <a:solidFill>
                  <a:srgbClr val="F1F1F1"/>
                </a:solidFill>
                <a:latin typeface="Georgia Pro Light"/>
                <a:ea typeface="Georgia Pro Light"/>
                <a:cs typeface="Georgia Pro Light"/>
                <a:sym typeface="Georgia Pro Light"/>
              </a:rPr>
              <a:t>Product Goals and Outcomes</a:t>
            </a:r>
          </a:p>
        </p:txBody>
      </p:sp>
      <p:sp>
        <p:nvSpPr>
          <p:cNvPr name="TextBox 3" id="3"/>
          <p:cNvSpPr txBox="true"/>
          <p:nvPr/>
        </p:nvSpPr>
        <p:spPr>
          <a:xfrm rot="0">
            <a:off x="9296400" y="2409825"/>
            <a:ext cx="7191375" cy="1442752"/>
          </a:xfrm>
          <a:prstGeom prst="rect">
            <a:avLst/>
          </a:prstGeom>
        </p:spPr>
        <p:txBody>
          <a:bodyPr anchor="t" rtlCol="false" tIns="0" lIns="0" bIns="0" rIns="0">
            <a:spAutoFit/>
          </a:bodyPr>
          <a:lstStyle/>
          <a:p>
            <a:pPr algn="l" marL="0" indent="0" lvl="0">
              <a:lnSpc>
                <a:spcPts val="2903"/>
              </a:lnSpc>
            </a:pPr>
            <a:r>
              <a:rPr lang="en-US" sz="2073">
                <a:solidFill>
                  <a:srgbClr val="F1F1F1"/>
                </a:solidFill>
                <a:latin typeface="DM Sans"/>
                <a:ea typeface="DM Sans"/>
                <a:cs typeface="DM Sans"/>
                <a:sym typeface="DM Sans"/>
              </a:rPr>
              <a:t>Our primary objective is to deliver a </a:t>
            </a:r>
            <a:r>
              <a:rPr lang="en-US" b="true" sz="2073">
                <a:solidFill>
                  <a:srgbClr val="F1F1F1"/>
                </a:solidFill>
                <a:latin typeface="DM Sans Bold"/>
                <a:ea typeface="DM Sans Bold"/>
                <a:cs typeface="DM Sans Bold"/>
                <a:sym typeface="DM Sans Bold"/>
              </a:rPr>
              <a:t>stable, replayable core loop</a:t>
            </a:r>
            <a:r>
              <a:rPr lang="en-US" sz="2073">
                <a:solidFill>
                  <a:srgbClr val="F1F1F1"/>
                </a:solidFill>
                <a:latin typeface="DM Sans"/>
                <a:ea typeface="DM Sans"/>
                <a:cs typeface="DM Sans"/>
                <a:sym typeface="DM Sans"/>
              </a:rPr>
              <a:t> where players complete objectives, unlock the portal, and coordinate their evacuation seamlessly, ensuring engaging gameplay.</a:t>
            </a:r>
          </a:p>
        </p:txBody>
      </p:sp>
      <p:sp>
        <p:nvSpPr>
          <p:cNvPr name="TextBox 4" id="4"/>
          <p:cNvSpPr txBox="true"/>
          <p:nvPr/>
        </p:nvSpPr>
        <p:spPr>
          <a:xfrm rot="0">
            <a:off x="9296400" y="1514475"/>
            <a:ext cx="7191375" cy="438785"/>
          </a:xfrm>
          <a:prstGeom prst="rect">
            <a:avLst/>
          </a:prstGeom>
        </p:spPr>
        <p:txBody>
          <a:bodyPr anchor="t" rtlCol="false" tIns="0" lIns="0" bIns="0" rIns="0">
            <a:spAutoFit/>
          </a:bodyPr>
          <a:lstStyle/>
          <a:p>
            <a:pPr algn="l" marL="0" indent="0" lvl="0">
              <a:lnSpc>
                <a:spcPts val="3640"/>
              </a:lnSpc>
            </a:pPr>
            <a:r>
              <a:rPr lang="en-US" b="true" sz="2600">
                <a:solidFill>
                  <a:srgbClr val="F1F1F1"/>
                </a:solidFill>
                <a:latin typeface="DM Sans Bold"/>
                <a:ea typeface="DM Sans Bold"/>
                <a:cs typeface="DM Sans Bold"/>
                <a:sym typeface="DM Sans Bold"/>
              </a:rPr>
              <a:t>STABLE CORE LOOP</a:t>
            </a:r>
          </a:p>
        </p:txBody>
      </p:sp>
      <p:sp>
        <p:nvSpPr>
          <p:cNvPr name="TextBox 5" id="5"/>
          <p:cNvSpPr txBox="true"/>
          <p:nvPr/>
        </p:nvSpPr>
        <p:spPr>
          <a:xfrm rot="0">
            <a:off x="9296400" y="5095875"/>
            <a:ext cx="7191375" cy="1442752"/>
          </a:xfrm>
          <a:prstGeom prst="rect">
            <a:avLst/>
          </a:prstGeom>
        </p:spPr>
        <p:txBody>
          <a:bodyPr anchor="t" rtlCol="false" tIns="0" lIns="0" bIns="0" rIns="0">
            <a:spAutoFit/>
          </a:bodyPr>
          <a:lstStyle/>
          <a:p>
            <a:pPr algn="l" marL="0" indent="0" lvl="0">
              <a:lnSpc>
                <a:spcPts val="2903"/>
              </a:lnSpc>
            </a:pPr>
            <a:r>
              <a:rPr lang="en-US" sz="2073">
                <a:solidFill>
                  <a:srgbClr val="F1F1F1"/>
                </a:solidFill>
                <a:latin typeface="DM Sans"/>
                <a:ea typeface="DM Sans"/>
                <a:cs typeface="DM Sans"/>
                <a:sym typeface="DM Sans"/>
              </a:rPr>
              <a:t>We aim to make </a:t>
            </a:r>
            <a:r>
              <a:rPr lang="en-US" b="true" sz="2073">
                <a:solidFill>
                  <a:srgbClr val="F1F1F1"/>
                </a:solidFill>
                <a:latin typeface="DM Sans Bold"/>
                <a:ea typeface="DM Sans Bold"/>
                <a:cs typeface="DM Sans Bold"/>
                <a:sym typeface="DM Sans Bold"/>
              </a:rPr>
              <a:t>AI behavior observable and debuggable</a:t>
            </a:r>
            <a:r>
              <a:rPr lang="en-US" sz="2073">
                <a:solidFill>
                  <a:srgbClr val="F1F1F1"/>
                </a:solidFill>
                <a:latin typeface="DM Sans"/>
                <a:ea typeface="DM Sans"/>
                <a:cs typeface="DM Sans"/>
                <a:sym typeface="DM Sans"/>
              </a:rPr>
              <a:t>, enabling developers to analyze intent selection and event-driven interrupts, fostering a deeper understanding of AI interactions during gameplay.</a:t>
            </a:r>
          </a:p>
        </p:txBody>
      </p:sp>
      <p:sp>
        <p:nvSpPr>
          <p:cNvPr name="TextBox 6" id="6"/>
          <p:cNvSpPr txBox="true"/>
          <p:nvPr/>
        </p:nvSpPr>
        <p:spPr>
          <a:xfrm rot="0">
            <a:off x="9296400" y="4200525"/>
            <a:ext cx="7191375" cy="438785"/>
          </a:xfrm>
          <a:prstGeom prst="rect">
            <a:avLst/>
          </a:prstGeom>
        </p:spPr>
        <p:txBody>
          <a:bodyPr anchor="t" rtlCol="false" tIns="0" lIns="0" bIns="0" rIns="0">
            <a:spAutoFit/>
          </a:bodyPr>
          <a:lstStyle/>
          <a:p>
            <a:pPr algn="l" marL="0" indent="0" lvl="0">
              <a:lnSpc>
                <a:spcPts val="3640"/>
              </a:lnSpc>
            </a:pPr>
            <a:r>
              <a:rPr lang="en-US" b="true" sz="2600">
                <a:solidFill>
                  <a:srgbClr val="F1F1F1"/>
                </a:solidFill>
                <a:latin typeface="DM Sans Bold"/>
                <a:ea typeface="DM Sans Bold"/>
                <a:cs typeface="DM Sans Bold"/>
                <a:sym typeface="DM Sans Bold"/>
              </a:rPr>
              <a:t>OBSERVABLE AI BEHAVIOR</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1F1F1"/>
        </a:solidFill>
      </p:bgPr>
    </p:bg>
    <p:spTree>
      <p:nvGrpSpPr>
        <p:cNvPr id="1" name=""/>
        <p:cNvGrpSpPr/>
        <p:nvPr/>
      </p:nvGrpSpPr>
      <p:grpSpPr>
        <a:xfrm>
          <a:off x="0" y="0"/>
          <a:ext cx="0" cy="0"/>
          <a:chOff x="0" y="0"/>
          <a:chExt cx="0" cy="0"/>
        </a:xfrm>
      </p:grpSpPr>
      <p:sp>
        <p:nvSpPr>
          <p:cNvPr name="TextBox 2" id="2"/>
          <p:cNvSpPr txBox="true"/>
          <p:nvPr/>
        </p:nvSpPr>
        <p:spPr>
          <a:xfrm rot="0">
            <a:off x="666750" y="733425"/>
            <a:ext cx="15821025" cy="1149353"/>
          </a:xfrm>
          <a:prstGeom prst="rect">
            <a:avLst/>
          </a:prstGeom>
        </p:spPr>
        <p:txBody>
          <a:bodyPr anchor="t" rtlCol="false" tIns="0" lIns="0" bIns="0" rIns="0">
            <a:spAutoFit/>
          </a:bodyPr>
          <a:lstStyle/>
          <a:p>
            <a:pPr algn="l" marL="0" indent="0" lvl="0">
              <a:lnSpc>
                <a:spcPts val="8800"/>
              </a:lnSpc>
              <a:spcBef>
                <a:spcPct val="0"/>
              </a:spcBef>
            </a:pPr>
            <a:r>
              <a:rPr lang="en-US" sz="8000">
                <a:solidFill>
                  <a:srgbClr val="1D1C24"/>
                </a:solidFill>
                <a:latin typeface="Georgia Pro Light"/>
                <a:ea typeface="Georgia Pro Light"/>
                <a:cs typeface="Georgia Pro Light"/>
                <a:sym typeface="Georgia Pro Light"/>
              </a:rPr>
              <a:t>End-to-End System Flow Overview</a:t>
            </a:r>
          </a:p>
        </p:txBody>
      </p:sp>
      <p:grpSp>
        <p:nvGrpSpPr>
          <p:cNvPr name="Group 3" id="3"/>
          <p:cNvGrpSpPr/>
          <p:nvPr/>
        </p:nvGrpSpPr>
        <p:grpSpPr>
          <a:xfrm rot="0">
            <a:off x="666750" y="4248150"/>
            <a:ext cx="4314825" cy="3027709"/>
            <a:chOff x="0" y="0"/>
            <a:chExt cx="5753100" cy="4036945"/>
          </a:xfrm>
        </p:grpSpPr>
        <p:sp>
          <p:nvSpPr>
            <p:cNvPr name="TextBox 4" id="4"/>
            <p:cNvSpPr txBox="true"/>
            <p:nvPr/>
          </p:nvSpPr>
          <p:spPr>
            <a:xfrm rot="0">
              <a:off x="0" y="1146175"/>
              <a:ext cx="5753100" cy="2890770"/>
            </a:xfrm>
            <a:prstGeom prst="rect">
              <a:avLst/>
            </a:prstGeom>
          </p:spPr>
          <p:txBody>
            <a:bodyPr anchor="t" rtlCol="false" tIns="0" lIns="0" bIns="0" rIns="0">
              <a:spAutoFit/>
            </a:bodyPr>
            <a:lstStyle/>
            <a:p>
              <a:pPr algn="l" marL="0" indent="0" lvl="0">
                <a:lnSpc>
                  <a:spcPts val="2939"/>
                </a:lnSpc>
              </a:pPr>
              <a:r>
                <a:rPr lang="en-US" sz="2099">
                  <a:solidFill>
                    <a:srgbClr val="1D1C24"/>
                  </a:solidFill>
                  <a:latin typeface="DM Sans"/>
                  <a:ea typeface="DM Sans"/>
                  <a:cs typeface="DM Sans"/>
                  <a:sym typeface="DM Sans"/>
                </a:rPr>
                <a:t>The system begins by updating vision and fog states, detecting threats, loot, traders, and objectives, enabling agents to maintain situational awareness in real-time.</a:t>
              </a:r>
            </a:p>
          </p:txBody>
        </p:sp>
        <p:sp>
          <p:nvSpPr>
            <p:cNvPr name="TextBox 5" id="5"/>
            <p:cNvSpPr txBox="true"/>
            <p:nvPr/>
          </p:nvSpPr>
          <p:spPr>
            <a:xfrm rot="0">
              <a:off x="0" y="-47625"/>
              <a:ext cx="5753100" cy="569172"/>
            </a:xfrm>
            <a:prstGeom prst="rect">
              <a:avLst/>
            </a:prstGeom>
          </p:spPr>
          <p:txBody>
            <a:bodyPr anchor="t" rtlCol="false" tIns="0" lIns="0" bIns="0" rIns="0">
              <a:spAutoFit/>
            </a:bodyPr>
            <a:lstStyle/>
            <a:p>
              <a:pPr algn="l" marL="0" indent="0" lvl="0">
                <a:lnSpc>
                  <a:spcPts val="3640"/>
                </a:lnSpc>
              </a:pPr>
              <a:r>
                <a:rPr lang="en-US" b="true" sz="2600">
                  <a:solidFill>
                    <a:srgbClr val="1D1C24"/>
                  </a:solidFill>
                  <a:latin typeface="DM Sans Bold"/>
                  <a:ea typeface="DM Sans Bold"/>
                  <a:cs typeface="DM Sans Bold"/>
                  <a:sym typeface="DM Sans Bold"/>
                </a:rPr>
                <a:t>SENSE</a:t>
              </a:r>
            </a:p>
          </p:txBody>
        </p:sp>
      </p:grpSp>
      <p:grpSp>
        <p:nvGrpSpPr>
          <p:cNvPr name="Group 6" id="6"/>
          <p:cNvGrpSpPr/>
          <p:nvPr/>
        </p:nvGrpSpPr>
        <p:grpSpPr>
          <a:xfrm rot="0">
            <a:off x="6419850" y="4248150"/>
            <a:ext cx="4314825" cy="3027709"/>
            <a:chOff x="0" y="0"/>
            <a:chExt cx="5753100" cy="4036945"/>
          </a:xfrm>
        </p:grpSpPr>
        <p:sp>
          <p:nvSpPr>
            <p:cNvPr name="TextBox 7" id="7"/>
            <p:cNvSpPr txBox="true"/>
            <p:nvPr/>
          </p:nvSpPr>
          <p:spPr>
            <a:xfrm rot="0">
              <a:off x="0" y="1146175"/>
              <a:ext cx="5753100" cy="2890770"/>
            </a:xfrm>
            <a:prstGeom prst="rect">
              <a:avLst/>
            </a:prstGeom>
          </p:spPr>
          <p:txBody>
            <a:bodyPr anchor="t" rtlCol="false" tIns="0" lIns="0" bIns="0" rIns="0">
              <a:spAutoFit/>
            </a:bodyPr>
            <a:lstStyle/>
            <a:p>
              <a:pPr algn="l" marL="0" indent="0" lvl="0">
                <a:lnSpc>
                  <a:spcPts val="2939"/>
                </a:lnSpc>
              </a:pPr>
              <a:r>
                <a:rPr lang="en-US" sz="2099">
                  <a:solidFill>
                    <a:srgbClr val="1D1C24"/>
                  </a:solidFill>
                  <a:latin typeface="DM Sans"/>
                  <a:ea typeface="DM Sans"/>
                  <a:cs typeface="DM Sans"/>
                  <a:sym typeface="DM Sans"/>
                </a:rPr>
                <a:t>Agents evaluate their self-status, goals, and urgency to select intents, while immediate interruptions arise from critical events to ensure quick reactions to changes in the environment.</a:t>
              </a:r>
            </a:p>
          </p:txBody>
        </p:sp>
        <p:sp>
          <p:nvSpPr>
            <p:cNvPr name="TextBox 8" id="8"/>
            <p:cNvSpPr txBox="true"/>
            <p:nvPr/>
          </p:nvSpPr>
          <p:spPr>
            <a:xfrm rot="0">
              <a:off x="0" y="-47625"/>
              <a:ext cx="5753100" cy="569172"/>
            </a:xfrm>
            <a:prstGeom prst="rect">
              <a:avLst/>
            </a:prstGeom>
          </p:spPr>
          <p:txBody>
            <a:bodyPr anchor="t" rtlCol="false" tIns="0" lIns="0" bIns="0" rIns="0">
              <a:spAutoFit/>
            </a:bodyPr>
            <a:lstStyle/>
            <a:p>
              <a:pPr algn="l" marL="0" indent="0" lvl="0">
                <a:lnSpc>
                  <a:spcPts val="3640"/>
                </a:lnSpc>
              </a:pPr>
              <a:r>
                <a:rPr lang="en-US" b="true" sz="2600">
                  <a:solidFill>
                    <a:srgbClr val="1D1C24"/>
                  </a:solidFill>
                  <a:latin typeface="DM Sans Bold"/>
                  <a:ea typeface="DM Sans Bold"/>
                  <a:cs typeface="DM Sans Bold"/>
                  <a:sym typeface="DM Sans Bold"/>
                </a:rPr>
                <a:t>DECIDE</a:t>
              </a:r>
            </a:p>
          </p:txBody>
        </p:sp>
      </p:grpSp>
      <p:grpSp>
        <p:nvGrpSpPr>
          <p:cNvPr name="Group 9" id="9"/>
          <p:cNvGrpSpPr/>
          <p:nvPr/>
        </p:nvGrpSpPr>
        <p:grpSpPr>
          <a:xfrm rot="0">
            <a:off x="12172950" y="4248150"/>
            <a:ext cx="4314825" cy="3027709"/>
            <a:chOff x="0" y="0"/>
            <a:chExt cx="5753100" cy="4036945"/>
          </a:xfrm>
        </p:grpSpPr>
        <p:sp>
          <p:nvSpPr>
            <p:cNvPr name="TextBox 10" id="10"/>
            <p:cNvSpPr txBox="true"/>
            <p:nvPr/>
          </p:nvSpPr>
          <p:spPr>
            <a:xfrm rot="0">
              <a:off x="0" y="1146175"/>
              <a:ext cx="5753100" cy="2890770"/>
            </a:xfrm>
            <a:prstGeom prst="rect">
              <a:avLst/>
            </a:prstGeom>
          </p:spPr>
          <p:txBody>
            <a:bodyPr anchor="t" rtlCol="false" tIns="0" lIns="0" bIns="0" rIns="0">
              <a:spAutoFit/>
            </a:bodyPr>
            <a:lstStyle/>
            <a:p>
              <a:pPr algn="l" marL="0" indent="0" lvl="0">
                <a:lnSpc>
                  <a:spcPts val="2939"/>
                </a:lnSpc>
              </a:pPr>
              <a:r>
                <a:rPr lang="en-US" sz="2099">
                  <a:solidFill>
                    <a:srgbClr val="1D1C24"/>
                  </a:solidFill>
                  <a:latin typeface="DM Sans"/>
                  <a:ea typeface="DM Sans"/>
                  <a:cs typeface="DM Sans"/>
                  <a:sym typeface="DM Sans"/>
                </a:rPr>
                <a:t>In this phase, agents execute moves, interact, fight, trade, or accomplish objectives, translating decisions into physical actions within the simulation to progress towards survival goals.</a:t>
              </a:r>
            </a:p>
          </p:txBody>
        </p:sp>
        <p:sp>
          <p:nvSpPr>
            <p:cNvPr name="TextBox 11" id="11"/>
            <p:cNvSpPr txBox="true"/>
            <p:nvPr/>
          </p:nvSpPr>
          <p:spPr>
            <a:xfrm rot="0">
              <a:off x="0" y="-47625"/>
              <a:ext cx="5753100" cy="569172"/>
            </a:xfrm>
            <a:prstGeom prst="rect">
              <a:avLst/>
            </a:prstGeom>
          </p:spPr>
          <p:txBody>
            <a:bodyPr anchor="t" rtlCol="false" tIns="0" lIns="0" bIns="0" rIns="0">
              <a:spAutoFit/>
            </a:bodyPr>
            <a:lstStyle/>
            <a:p>
              <a:pPr algn="l" marL="0" indent="0" lvl="0">
                <a:lnSpc>
                  <a:spcPts val="3640"/>
                </a:lnSpc>
              </a:pPr>
              <a:r>
                <a:rPr lang="en-US" b="true" sz="2600">
                  <a:solidFill>
                    <a:srgbClr val="1D1C24"/>
                  </a:solidFill>
                  <a:latin typeface="DM Sans Bold"/>
                  <a:ea typeface="DM Sans Bold"/>
                  <a:cs typeface="DM Sans Bold"/>
                  <a:sym typeface="DM Sans Bold"/>
                </a:rPr>
                <a:t>ACT</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D1C24"/>
        </a:solidFill>
      </p:bgPr>
    </p:bg>
    <p:spTree>
      <p:nvGrpSpPr>
        <p:cNvPr id="1" name=""/>
        <p:cNvGrpSpPr/>
        <p:nvPr/>
      </p:nvGrpSpPr>
      <p:grpSpPr>
        <a:xfrm>
          <a:off x="0" y="0"/>
          <a:ext cx="0" cy="0"/>
          <a:chOff x="0" y="0"/>
          <a:chExt cx="0" cy="0"/>
        </a:xfrm>
      </p:grpSpPr>
      <p:grpSp>
        <p:nvGrpSpPr>
          <p:cNvPr name="Group 2" id="2"/>
          <p:cNvGrpSpPr/>
          <p:nvPr/>
        </p:nvGrpSpPr>
        <p:grpSpPr>
          <a:xfrm rot="0">
            <a:off x="10734675" y="0"/>
            <a:ext cx="7553325" cy="10287000"/>
            <a:chOff x="0" y="0"/>
            <a:chExt cx="1170208" cy="1593725"/>
          </a:xfrm>
        </p:grpSpPr>
        <p:sp>
          <p:nvSpPr>
            <p:cNvPr name="Freeform 3" id="3"/>
            <p:cNvSpPr/>
            <p:nvPr/>
          </p:nvSpPr>
          <p:spPr>
            <a:xfrm flipH="false" flipV="false" rot="0">
              <a:off x="0" y="0"/>
              <a:ext cx="1170208" cy="1593725"/>
            </a:xfrm>
            <a:custGeom>
              <a:avLst/>
              <a:gdLst/>
              <a:ahLst/>
              <a:cxnLst/>
              <a:rect r="r" b="b" t="t" l="l"/>
              <a:pathLst>
                <a:path h="1593725" w="1170208">
                  <a:moveTo>
                    <a:pt x="0" y="0"/>
                  </a:moveTo>
                  <a:lnTo>
                    <a:pt x="1170208" y="0"/>
                  </a:lnTo>
                  <a:lnTo>
                    <a:pt x="1170208" y="1593725"/>
                  </a:lnTo>
                  <a:lnTo>
                    <a:pt x="0" y="1593725"/>
                  </a:lnTo>
                  <a:close/>
                </a:path>
              </a:pathLst>
            </a:custGeom>
            <a:blipFill>
              <a:blip r:embed="rId3"/>
              <a:stretch>
                <a:fillRect l="0" t="-205" r="0" b="-205"/>
              </a:stretch>
            </a:blipFill>
          </p:spPr>
        </p:sp>
      </p:grpSp>
      <p:grpSp>
        <p:nvGrpSpPr>
          <p:cNvPr name="Group 4" id="4"/>
          <p:cNvGrpSpPr/>
          <p:nvPr/>
        </p:nvGrpSpPr>
        <p:grpSpPr>
          <a:xfrm rot="0">
            <a:off x="666750" y="666750"/>
            <a:ext cx="8324850" cy="2632656"/>
            <a:chOff x="0" y="0"/>
            <a:chExt cx="11099800" cy="3510208"/>
          </a:xfrm>
        </p:grpSpPr>
        <p:sp>
          <p:nvSpPr>
            <p:cNvPr name="TextBox 5" id="5"/>
            <p:cNvSpPr txBox="true"/>
            <p:nvPr/>
          </p:nvSpPr>
          <p:spPr>
            <a:xfrm rot="0">
              <a:off x="0" y="66675"/>
              <a:ext cx="11099800" cy="1554696"/>
            </a:xfrm>
            <a:prstGeom prst="rect">
              <a:avLst/>
            </a:prstGeom>
          </p:spPr>
          <p:txBody>
            <a:bodyPr anchor="t" rtlCol="false" tIns="0" lIns="0" bIns="0" rIns="0">
              <a:spAutoFit/>
            </a:bodyPr>
            <a:lstStyle/>
            <a:p>
              <a:pPr algn="l" marL="0" indent="0" lvl="0">
                <a:lnSpc>
                  <a:spcPts val="8800"/>
                </a:lnSpc>
              </a:pPr>
              <a:r>
                <a:rPr lang="en-US" sz="8000">
                  <a:solidFill>
                    <a:srgbClr val="F1F1F1"/>
                  </a:solidFill>
                  <a:latin typeface="Georgia Pro Light"/>
                  <a:ea typeface="Georgia Pro Light"/>
                  <a:cs typeface="Georgia Pro Light"/>
                  <a:sym typeface="Georgia Pro Light"/>
                </a:rPr>
                <a:t>Locked Scope</a:t>
              </a:r>
            </a:p>
          </p:txBody>
        </p:sp>
        <p:sp>
          <p:nvSpPr>
            <p:cNvPr name="TextBox 6" id="6"/>
            <p:cNvSpPr txBox="true"/>
            <p:nvPr/>
          </p:nvSpPr>
          <p:spPr>
            <a:xfrm rot="0">
              <a:off x="0" y="2047803"/>
              <a:ext cx="11099800" cy="1462405"/>
            </a:xfrm>
            <a:prstGeom prst="rect">
              <a:avLst/>
            </a:prstGeom>
          </p:spPr>
          <p:txBody>
            <a:bodyPr anchor="t" rtlCol="false" tIns="0" lIns="0" bIns="0" rIns="0">
              <a:spAutoFit/>
            </a:bodyPr>
            <a:lstStyle/>
            <a:p>
              <a:pPr algn="l" marL="0" indent="0" lvl="0">
                <a:lnSpc>
                  <a:spcPts val="2940"/>
                </a:lnSpc>
              </a:pPr>
              <a:r>
                <a:rPr lang="en-US" sz="2100">
                  <a:solidFill>
                    <a:srgbClr val="F1F1F1"/>
                  </a:solidFill>
                  <a:latin typeface="DM Sans"/>
                  <a:ea typeface="DM Sans"/>
                  <a:cs typeface="DM Sans"/>
                  <a:sym typeface="DM Sans"/>
                </a:rPr>
                <a:t>The WSS2 simulation runs at </a:t>
              </a:r>
              <a:r>
                <a:rPr lang="en-US" b="true" sz="2100">
                  <a:solidFill>
                    <a:srgbClr val="F1F1F1"/>
                  </a:solidFill>
                  <a:latin typeface="DM Sans Bold"/>
                  <a:ea typeface="DM Sans Bold"/>
                  <a:cs typeface="DM Sans Bold"/>
                  <a:sym typeface="DM Sans Bold"/>
                </a:rPr>
                <a:t>60 ticks per second</a:t>
              </a:r>
              <a:r>
                <a:rPr lang="en-US" sz="2100">
                  <a:solidFill>
                    <a:srgbClr val="F1F1F1"/>
                  </a:solidFill>
                  <a:latin typeface="DM Sans"/>
                  <a:ea typeface="DM Sans"/>
                  <a:cs typeface="DM Sans"/>
                  <a:sym typeface="DM Sans"/>
                </a:rPr>
                <a:t>, ensuring real-time combat and movement. Players must evacuate all survivors through a locked portal, navigating fog-of-war and objectives.</a:t>
              </a:r>
            </a:p>
          </p:txBody>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1D1C24"/>
        </a:solidFill>
      </p:bgPr>
    </p:bg>
    <p:spTree>
      <p:nvGrpSpPr>
        <p:cNvPr id="1" name=""/>
        <p:cNvGrpSpPr/>
        <p:nvPr/>
      </p:nvGrpSpPr>
      <p:grpSpPr>
        <a:xfrm>
          <a:off x="0" y="0"/>
          <a:ext cx="0" cy="0"/>
          <a:chOff x="0" y="0"/>
          <a:chExt cx="0" cy="0"/>
        </a:xfrm>
      </p:grpSpPr>
      <p:sp>
        <p:nvSpPr>
          <p:cNvPr name="TextBox 2" id="2"/>
          <p:cNvSpPr txBox="true"/>
          <p:nvPr/>
        </p:nvSpPr>
        <p:spPr>
          <a:xfrm rot="0">
            <a:off x="666750" y="733425"/>
            <a:ext cx="5753100" cy="2263778"/>
          </a:xfrm>
          <a:prstGeom prst="rect">
            <a:avLst/>
          </a:prstGeom>
        </p:spPr>
        <p:txBody>
          <a:bodyPr anchor="t" rtlCol="false" tIns="0" lIns="0" bIns="0" rIns="0">
            <a:spAutoFit/>
          </a:bodyPr>
          <a:lstStyle/>
          <a:p>
            <a:pPr algn="l" marL="0" indent="0" lvl="0">
              <a:lnSpc>
                <a:spcPts val="8800"/>
              </a:lnSpc>
              <a:spcBef>
                <a:spcPct val="0"/>
              </a:spcBef>
            </a:pPr>
            <a:r>
              <a:rPr lang="en-US" sz="8000">
                <a:solidFill>
                  <a:srgbClr val="F1F1F1"/>
                </a:solidFill>
                <a:latin typeface="Georgia Pro Light"/>
                <a:ea typeface="Georgia Pro Light"/>
                <a:cs typeface="Georgia Pro Light"/>
                <a:sym typeface="Georgia Pro Light"/>
              </a:rPr>
              <a:t>World and Map Design</a:t>
            </a:r>
          </a:p>
        </p:txBody>
      </p:sp>
      <p:sp>
        <p:nvSpPr>
          <p:cNvPr name="TextBox 3" id="3"/>
          <p:cNvSpPr txBox="true"/>
          <p:nvPr/>
        </p:nvSpPr>
        <p:spPr>
          <a:xfrm rot="0">
            <a:off x="9296400" y="2409825"/>
            <a:ext cx="7191375" cy="1108710"/>
          </a:xfrm>
          <a:prstGeom prst="rect">
            <a:avLst/>
          </a:prstGeom>
        </p:spPr>
        <p:txBody>
          <a:bodyPr anchor="t" rtlCol="false" tIns="0" lIns="0" bIns="0" rIns="0">
            <a:spAutoFit/>
          </a:bodyPr>
          <a:lstStyle/>
          <a:p>
            <a:pPr algn="l" marL="0" indent="0" lvl="0">
              <a:lnSpc>
                <a:spcPts val="2940"/>
              </a:lnSpc>
            </a:pPr>
            <a:r>
              <a:rPr lang="en-US" sz="2100">
                <a:solidFill>
                  <a:srgbClr val="F1F1F1"/>
                </a:solidFill>
                <a:latin typeface="DM Sans"/>
                <a:ea typeface="DM Sans"/>
                <a:cs typeface="DM Sans"/>
                <a:sym typeface="DM Sans"/>
              </a:rPr>
              <a:t>WSS2 offers flexible map sizes of 30×30, 40×40, and 60×60 grids, accommodating varying survivor counts from 1 to 5. This allows for tailored gameplay experiences.</a:t>
            </a:r>
          </a:p>
        </p:txBody>
      </p:sp>
      <p:sp>
        <p:nvSpPr>
          <p:cNvPr name="TextBox 4" id="4"/>
          <p:cNvSpPr txBox="true"/>
          <p:nvPr/>
        </p:nvSpPr>
        <p:spPr>
          <a:xfrm rot="0">
            <a:off x="9296400" y="1514475"/>
            <a:ext cx="7191375" cy="438785"/>
          </a:xfrm>
          <a:prstGeom prst="rect">
            <a:avLst/>
          </a:prstGeom>
        </p:spPr>
        <p:txBody>
          <a:bodyPr anchor="t" rtlCol="false" tIns="0" lIns="0" bIns="0" rIns="0">
            <a:spAutoFit/>
          </a:bodyPr>
          <a:lstStyle/>
          <a:p>
            <a:pPr algn="l" marL="0" indent="0" lvl="0">
              <a:lnSpc>
                <a:spcPts val="3640"/>
              </a:lnSpc>
            </a:pPr>
            <a:r>
              <a:rPr lang="en-US" b="true" sz="2600">
                <a:solidFill>
                  <a:srgbClr val="F1F1F1"/>
                </a:solidFill>
                <a:latin typeface="DM Sans Bold"/>
                <a:ea typeface="DM Sans Bold"/>
                <a:cs typeface="DM Sans Bold"/>
                <a:sym typeface="DM Sans Bold"/>
              </a:rPr>
              <a:t>CONFIGURABLE MAP SIZES</a:t>
            </a:r>
          </a:p>
        </p:txBody>
      </p:sp>
      <p:sp>
        <p:nvSpPr>
          <p:cNvPr name="TextBox 5" id="5"/>
          <p:cNvSpPr txBox="true"/>
          <p:nvPr/>
        </p:nvSpPr>
        <p:spPr>
          <a:xfrm rot="0">
            <a:off x="9296400" y="5095875"/>
            <a:ext cx="7191375" cy="1480185"/>
          </a:xfrm>
          <a:prstGeom prst="rect">
            <a:avLst/>
          </a:prstGeom>
        </p:spPr>
        <p:txBody>
          <a:bodyPr anchor="t" rtlCol="false" tIns="0" lIns="0" bIns="0" rIns="0">
            <a:spAutoFit/>
          </a:bodyPr>
          <a:lstStyle/>
          <a:p>
            <a:pPr algn="l" marL="0" indent="0" lvl="0">
              <a:lnSpc>
                <a:spcPts val="2940"/>
              </a:lnSpc>
            </a:pPr>
            <a:r>
              <a:rPr lang="en-US" sz="2100">
                <a:solidFill>
                  <a:srgbClr val="F1F1F1"/>
                </a:solidFill>
                <a:latin typeface="DM Sans"/>
                <a:ea typeface="DM Sans"/>
                <a:cs typeface="DM Sans"/>
                <a:sym typeface="DM Sans"/>
              </a:rPr>
              <a:t>The game leverages procedural generation techniques for terrain, buildings, and loot placements, ensuring unique environments for each playthrough while enhancing immersion and replayability.</a:t>
            </a:r>
          </a:p>
        </p:txBody>
      </p:sp>
      <p:sp>
        <p:nvSpPr>
          <p:cNvPr name="TextBox 6" id="6"/>
          <p:cNvSpPr txBox="true"/>
          <p:nvPr/>
        </p:nvSpPr>
        <p:spPr>
          <a:xfrm rot="0">
            <a:off x="9296400" y="4200525"/>
            <a:ext cx="7191375" cy="438785"/>
          </a:xfrm>
          <a:prstGeom prst="rect">
            <a:avLst/>
          </a:prstGeom>
        </p:spPr>
        <p:txBody>
          <a:bodyPr anchor="t" rtlCol="false" tIns="0" lIns="0" bIns="0" rIns="0">
            <a:spAutoFit/>
          </a:bodyPr>
          <a:lstStyle/>
          <a:p>
            <a:pPr algn="l" marL="0" indent="0" lvl="0">
              <a:lnSpc>
                <a:spcPts val="3640"/>
              </a:lnSpc>
            </a:pPr>
            <a:r>
              <a:rPr lang="en-US" b="true" sz="2600">
                <a:solidFill>
                  <a:srgbClr val="F1F1F1"/>
                </a:solidFill>
                <a:latin typeface="DM Sans Bold"/>
                <a:ea typeface="DM Sans Bold"/>
                <a:cs typeface="DM Sans Bold"/>
                <a:sym typeface="DM Sans Bold"/>
              </a:rPr>
              <a:t>PROCEDURAL GENERATION</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1F1F1"/>
        </a:solidFill>
      </p:bgPr>
    </p:bg>
    <p:spTree>
      <p:nvGrpSpPr>
        <p:cNvPr id="1" name=""/>
        <p:cNvGrpSpPr/>
        <p:nvPr/>
      </p:nvGrpSpPr>
      <p:grpSpPr>
        <a:xfrm>
          <a:off x="0" y="0"/>
          <a:ext cx="0" cy="0"/>
          <a:chOff x="0" y="0"/>
          <a:chExt cx="0" cy="0"/>
        </a:xfrm>
      </p:grpSpPr>
      <p:sp>
        <p:nvSpPr>
          <p:cNvPr name="TextBox 2" id="2"/>
          <p:cNvSpPr txBox="true"/>
          <p:nvPr/>
        </p:nvSpPr>
        <p:spPr>
          <a:xfrm rot="0">
            <a:off x="666750" y="733425"/>
            <a:ext cx="15821025" cy="2263778"/>
          </a:xfrm>
          <a:prstGeom prst="rect">
            <a:avLst/>
          </a:prstGeom>
        </p:spPr>
        <p:txBody>
          <a:bodyPr anchor="t" rtlCol="false" tIns="0" lIns="0" bIns="0" rIns="0">
            <a:spAutoFit/>
          </a:bodyPr>
          <a:lstStyle/>
          <a:p>
            <a:pPr algn="l" marL="0" indent="0" lvl="0">
              <a:lnSpc>
                <a:spcPts val="8800"/>
              </a:lnSpc>
              <a:spcBef>
                <a:spcPct val="0"/>
              </a:spcBef>
            </a:pPr>
            <a:r>
              <a:rPr lang="en-US" sz="8000">
                <a:solidFill>
                  <a:srgbClr val="1D1C24"/>
                </a:solidFill>
                <a:latin typeface="Georgia Pro Light"/>
                <a:ea typeface="Georgia Pro Light"/>
                <a:cs typeface="Georgia Pro Light"/>
                <a:sym typeface="Georgia Pro Light"/>
              </a:rPr>
              <a:t>Loot, Economy, and Progression Overview</a:t>
            </a:r>
          </a:p>
        </p:txBody>
      </p:sp>
      <p:grpSp>
        <p:nvGrpSpPr>
          <p:cNvPr name="Group 3" id="3"/>
          <p:cNvGrpSpPr/>
          <p:nvPr/>
        </p:nvGrpSpPr>
        <p:grpSpPr>
          <a:xfrm rot="0">
            <a:off x="666750" y="4248150"/>
            <a:ext cx="4314825" cy="3027709"/>
            <a:chOff x="0" y="0"/>
            <a:chExt cx="5753100" cy="4036945"/>
          </a:xfrm>
        </p:grpSpPr>
        <p:sp>
          <p:nvSpPr>
            <p:cNvPr name="TextBox 4" id="4"/>
            <p:cNvSpPr txBox="true"/>
            <p:nvPr/>
          </p:nvSpPr>
          <p:spPr>
            <a:xfrm rot="0">
              <a:off x="0" y="1146175"/>
              <a:ext cx="5753100" cy="2890770"/>
            </a:xfrm>
            <a:prstGeom prst="rect">
              <a:avLst/>
            </a:prstGeom>
          </p:spPr>
          <p:txBody>
            <a:bodyPr anchor="t" rtlCol="false" tIns="0" lIns="0" bIns="0" rIns="0">
              <a:spAutoFit/>
            </a:bodyPr>
            <a:lstStyle/>
            <a:p>
              <a:pPr algn="l" marL="0" indent="0" lvl="0">
                <a:lnSpc>
                  <a:spcPts val="2939"/>
                </a:lnSpc>
              </a:pPr>
              <a:r>
                <a:rPr lang="en-US" sz="2099">
                  <a:solidFill>
                    <a:srgbClr val="1D1C24"/>
                  </a:solidFill>
                  <a:latin typeface="DM Sans"/>
                  <a:ea typeface="DM Sans"/>
                  <a:cs typeface="DM Sans"/>
                  <a:sym typeface="DM Sans"/>
                </a:rPr>
                <a:t>Loot is strategically clustered in buildings and limited outdoor spawns, allowing players to explore and gather resources efficiently while increasing the thrill of discovery in diverse terrains.</a:t>
              </a:r>
            </a:p>
          </p:txBody>
        </p:sp>
        <p:sp>
          <p:nvSpPr>
            <p:cNvPr name="TextBox 5" id="5"/>
            <p:cNvSpPr txBox="true"/>
            <p:nvPr/>
          </p:nvSpPr>
          <p:spPr>
            <a:xfrm rot="0">
              <a:off x="0" y="-47625"/>
              <a:ext cx="5753100" cy="569172"/>
            </a:xfrm>
            <a:prstGeom prst="rect">
              <a:avLst/>
            </a:prstGeom>
          </p:spPr>
          <p:txBody>
            <a:bodyPr anchor="t" rtlCol="false" tIns="0" lIns="0" bIns="0" rIns="0">
              <a:spAutoFit/>
            </a:bodyPr>
            <a:lstStyle/>
            <a:p>
              <a:pPr algn="l" marL="0" indent="0" lvl="0">
                <a:lnSpc>
                  <a:spcPts val="3640"/>
                </a:lnSpc>
              </a:pPr>
              <a:r>
                <a:rPr lang="en-US" b="true" sz="2600">
                  <a:solidFill>
                    <a:srgbClr val="1D1C24"/>
                  </a:solidFill>
                  <a:latin typeface="DM Sans Bold"/>
                  <a:ea typeface="DM Sans Bold"/>
                  <a:cs typeface="DM Sans Bold"/>
                  <a:sym typeface="DM Sans Bold"/>
                </a:rPr>
                <a:t>LOOT DISTRIBUTION</a:t>
              </a:r>
            </a:p>
          </p:txBody>
        </p:sp>
      </p:grpSp>
      <p:grpSp>
        <p:nvGrpSpPr>
          <p:cNvPr name="Group 6" id="6"/>
          <p:cNvGrpSpPr/>
          <p:nvPr/>
        </p:nvGrpSpPr>
        <p:grpSpPr>
          <a:xfrm rot="0">
            <a:off x="6419850" y="4248150"/>
            <a:ext cx="4314825" cy="3027709"/>
            <a:chOff x="0" y="0"/>
            <a:chExt cx="5753100" cy="4036945"/>
          </a:xfrm>
        </p:grpSpPr>
        <p:sp>
          <p:nvSpPr>
            <p:cNvPr name="TextBox 7" id="7"/>
            <p:cNvSpPr txBox="true"/>
            <p:nvPr/>
          </p:nvSpPr>
          <p:spPr>
            <a:xfrm rot="0">
              <a:off x="0" y="1146175"/>
              <a:ext cx="5753100" cy="2890770"/>
            </a:xfrm>
            <a:prstGeom prst="rect">
              <a:avLst/>
            </a:prstGeom>
          </p:spPr>
          <p:txBody>
            <a:bodyPr anchor="t" rtlCol="false" tIns="0" lIns="0" bIns="0" rIns="0">
              <a:spAutoFit/>
            </a:bodyPr>
            <a:lstStyle/>
            <a:p>
              <a:pPr algn="l" marL="0" indent="0" lvl="0">
                <a:lnSpc>
                  <a:spcPts val="2939"/>
                </a:lnSpc>
              </a:pPr>
              <a:r>
                <a:rPr lang="en-US" sz="2099">
                  <a:solidFill>
                    <a:srgbClr val="1D1C24"/>
                  </a:solidFill>
                  <a:latin typeface="DM Sans"/>
                  <a:ea typeface="DM Sans"/>
                  <a:cs typeface="DM Sans"/>
                  <a:sym typeface="DM Sans"/>
                </a:rPr>
                <a:t>Loot is generated from pre-placed sources within the environment and drops from defeated human enemies, ensuring a dynamic and rewarding collection experience throughout gameplay.</a:t>
              </a:r>
            </a:p>
          </p:txBody>
        </p:sp>
        <p:sp>
          <p:nvSpPr>
            <p:cNvPr name="TextBox 8" id="8"/>
            <p:cNvSpPr txBox="true"/>
            <p:nvPr/>
          </p:nvSpPr>
          <p:spPr>
            <a:xfrm rot="0">
              <a:off x="0" y="-47625"/>
              <a:ext cx="5753100" cy="569172"/>
            </a:xfrm>
            <a:prstGeom prst="rect">
              <a:avLst/>
            </a:prstGeom>
          </p:spPr>
          <p:txBody>
            <a:bodyPr anchor="t" rtlCol="false" tIns="0" lIns="0" bIns="0" rIns="0">
              <a:spAutoFit/>
            </a:bodyPr>
            <a:lstStyle/>
            <a:p>
              <a:pPr algn="l" marL="0" indent="0" lvl="0">
                <a:lnSpc>
                  <a:spcPts val="3640"/>
                </a:lnSpc>
              </a:pPr>
              <a:r>
                <a:rPr lang="en-US" b="true" sz="2600">
                  <a:solidFill>
                    <a:srgbClr val="1D1C24"/>
                  </a:solidFill>
                  <a:latin typeface="DM Sans Bold"/>
                  <a:ea typeface="DM Sans Bold"/>
                  <a:cs typeface="DM Sans Bold"/>
                  <a:sym typeface="DM Sans Bold"/>
                </a:rPr>
                <a:t>LOOT SOURCES</a:t>
              </a:r>
            </a:p>
          </p:txBody>
        </p:sp>
      </p:grpSp>
      <p:grpSp>
        <p:nvGrpSpPr>
          <p:cNvPr name="Group 9" id="9"/>
          <p:cNvGrpSpPr/>
          <p:nvPr/>
        </p:nvGrpSpPr>
        <p:grpSpPr>
          <a:xfrm rot="0">
            <a:off x="12172950" y="4248150"/>
            <a:ext cx="4314825" cy="3027709"/>
            <a:chOff x="0" y="0"/>
            <a:chExt cx="5753100" cy="4036945"/>
          </a:xfrm>
        </p:grpSpPr>
        <p:sp>
          <p:nvSpPr>
            <p:cNvPr name="TextBox 10" id="10"/>
            <p:cNvSpPr txBox="true"/>
            <p:nvPr/>
          </p:nvSpPr>
          <p:spPr>
            <a:xfrm rot="0">
              <a:off x="0" y="1146175"/>
              <a:ext cx="5753100" cy="2890770"/>
            </a:xfrm>
            <a:prstGeom prst="rect">
              <a:avLst/>
            </a:prstGeom>
          </p:spPr>
          <p:txBody>
            <a:bodyPr anchor="t" rtlCol="false" tIns="0" lIns="0" bIns="0" rIns="0">
              <a:spAutoFit/>
            </a:bodyPr>
            <a:lstStyle/>
            <a:p>
              <a:pPr algn="l" marL="0" indent="0" lvl="0">
                <a:lnSpc>
                  <a:spcPts val="2939"/>
                </a:lnSpc>
              </a:pPr>
              <a:r>
                <a:rPr lang="en-US" sz="2099">
                  <a:solidFill>
                    <a:srgbClr val="1D1C24"/>
                  </a:solidFill>
                  <a:latin typeface="DM Sans"/>
                  <a:ea typeface="DM Sans"/>
                  <a:cs typeface="DM Sans"/>
                  <a:sym typeface="DM Sans"/>
                </a:rPr>
                <a:t>The quality of loot scales with difficulty levels, featuring themed containers that enhance immersion, such as medical vs military supplies, which cater to various survival strategies.</a:t>
              </a:r>
            </a:p>
          </p:txBody>
        </p:sp>
        <p:sp>
          <p:nvSpPr>
            <p:cNvPr name="TextBox 11" id="11"/>
            <p:cNvSpPr txBox="true"/>
            <p:nvPr/>
          </p:nvSpPr>
          <p:spPr>
            <a:xfrm rot="0">
              <a:off x="0" y="-47625"/>
              <a:ext cx="5753100" cy="569172"/>
            </a:xfrm>
            <a:prstGeom prst="rect">
              <a:avLst/>
            </a:prstGeom>
          </p:spPr>
          <p:txBody>
            <a:bodyPr anchor="t" rtlCol="false" tIns="0" lIns="0" bIns="0" rIns="0">
              <a:spAutoFit/>
            </a:bodyPr>
            <a:lstStyle/>
            <a:p>
              <a:pPr algn="l" marL="0" indent="0" lvl="0">
                <a:lnSpc>
                  <a:spcPts val="3640"/>
                </a:lnSpc>
              </a:pPr>
              <a:r>
                <a:rPr lang="en-US" b="true" sz="2600">
                  <a:solidFill>
                    <a:srgbClr val="1D1C24"/>
                  </a:solidFill>
                  <a:latin typeface="DM Sans Bold"/>
                  <a:ea typeface="DM Sans Bold"/>
                  <a:cs typeface="DM Sans Bold"/>
                  <a:sym typeface="DM Sans Bold"/>
                </a:rPr>
                <a:t>QUALITY SCALES</a:t>
              </a:r>
            </a:p>
          </p:txBody>
        </p:sp>
      </p:grpSp>
    </p:spTree>
  </p:cSld>
  <p:clrMapOvr>
    <a:masterClrMapping/>
  </p:clrMapOvr>
</p:sld>
</file>

<file path=ppt/slides/slide8.xml><?xml version="1.0" encoding="utf-8"?>
<p:sld xmlns:p="http://schemas.openxmlformats.org/presentationml/2006/main" xmlns:a="http://schemas.openxmlformats.org/drawingml/2006/main">
  <p:cSld>
    <p:bg>
      <p:bgPr>
        <a:solidFill>
          <a:srgbClr val="F1F1F1"/>
        </a:solidFill>
      </p:bgPr>
    </p:bg>
    <p:spTree>
      <p:nvGrpSpPr>
        <p:cNvPr id="1" name=""/>
        <p:cNvGrpSpPr/>
        <p:nvPr/>
      </p:nvGrpSpPr>
      <p:grpSpPr>
        <a:xfrm>
          <a:off x="0" y="0"/>
          <a:ext cx="0" cy="0"/>
          <a:chOff x="0" y="0"/>
          <a:chExt cx="0" cy="0"/>
        </a:xfrm>
      </p:grpSpPr>
      <p:sp>
        <p:nvSpPr>
          <p:cNvPr name="TextBox 2" id="2"/>
          <p:cNvSpPr txBox="true"/>
          <p:nvPr/>
        </p:nvSpPr>
        <p:spPr>
          <a:xfrm rot="0">
            <a:off x="666750" y="733425"/>
            <a:ext cx="15821025" cy="2263778"/>
          </a:xfrm>
          <a:prstGeom prst="rect">
            <a:avLst/>
          </a:prstGeom>
        </p:spPr>
        <p:txBody>
          <a:bodyPr anchor="t" rtlCol="false" tIns="0" lIns="0" bIns="0" rIns="0">
            <a:spAutoFit/>
          </a:bodyPr>
          <a:lstStyle/>
          <a:p>
            <a:pPr algn="l" marL="0" indent="0" lvl="0">
              <a:lnSpc>
                <a:spcPts val="8800"/>
              </a:lnSpc>
              <a:spcBef>
                <a:spcPct val="0"/>
              </a:spcBef>
            </a:pPr>
            <a:r>
              <a:rPr lang="en-US" sz="8000">
                <a:solidFill>
                  <a:srgbClr val="1D1C24"/>
                </a:solidFill>
                <a:latin typeface="Georgia Pro Light"/>
                <a:ea typeface="Georgia Pro Light"/>
                <a:cs typeface="Georgia Pro Light"/>
                <a:sym typeface="Georgia Pro Light"/>
              </a:rPr>
              <a:t>Combat Mechanics and Weaponry Overview</a:t>
            </a:r>
          </a:p>
        </p:txBody>
      </p:sp>
      <p:grpSp>
        <p:nvGrpSpPr>
          <p:cNvPr name="Group 3" id="3"/>
          <p:cNvGrpSpPr/>
          <p:nvPr/>
        </p:nvGrpSpPr>
        <p:grpSpPr>
          <a:xfrm rot="0">
            <a:off x="666750" y="4248150"/>
            <a:ext cx="4314825" cy="3391992"/>
            <a:chOff x="0" y="0"/>
            <a:chExt cx="5753100" cy="4522656"/>
          </a:xfrm>
        </p:grpSpPr>
        <p:sp>
          <p:nvSpPr>
            <p:cNvPr name="TextBox 4" id="4"/>
            <p:cNvSpPr txBox="true"/>
            <p:nvPr/>
          </p:nvSpPr>
          <p:spPr>
            <a:xfrm rot="0">
              <a:off x="0" y="1146175"/>
              <a:ext cx="5753100" cy="3376481"/>
            </a:xfrm>
            <a:prstGeom prst="rect">
              <a:avLst/>
            </a:prstGeom>
          </p:spPr>
          <p:txBody>
            <a:bodyPr anchor="t" rtlCol="false" tIns="0" lIns="0" bIns="0" rIns="0">
              <a:spAutoFit/>
            </a:bodyPr>
            <a:lstStyle/>
            <a:p>
              <a:pPr algn="l" marL="0" indent="0" lvl="0">
                <a:lnSpc>
                  <a:spcPts val="2939"/>
                </a:lnSpc>
              </a:pPr>
              <a:r>
                <a:rPr lang="en-US" sz="2099">
                  <a:solidFill>
                    <a:srgbClr val="1D1C24"/>
                  </a:solidFill>
                  <a:latin typeface="DM Sans"/>
                  <a:ea typeface="DM Sans"/>
                  <a:cs typeface="DM Sans"/>
                  <a:sym typeface="DM Sans"/>
                </a:rPr>
                <a:t>The game features a </a:t>
              </a:r>
              <a:r>
                <a:rPr lang="en-US" b="true" sz="2099">
                  <a:solidFill>
                    <a:srgbClr val="1D1C24"/>
                  </a:solidFill>
                  <a:latin typeface="DM Sans Bold"/>
                  <a:ea typeface="DM Sans Bold"/>
                  <a:cs typeface="DM Sans Bold"/>
                  <a:sym typeface="DM Sans Bold"/>
                </a:rPr>
                <a:t>diverse arsenal</a:t>
              </a:r>
              <a:r>
                <a:rPr lang="en-US" sz="2099">
                  <a:solidFill>
                    <a:srgbClr val="1D1C24"/>
                  </a:solidFill>
                  <a:latin typeface="DM Sans"/>
                  <a:ea typeface="DM Sans"/>
                  <a:cs typeface="DM Sans"/>
                  <a:sym typeface="DM Sans"/>
                </a:rPr>
                <a:t> with melee and ranged weapons, incorporating durability mechanics for realism and strategy in combat scenarios, enhancing the player's tactical choices.</a:t>
              </a:r>
            </a:p>
          </p:txBody>
        </p:sp>
        <p:sp>
          <p:nvSpPr>
            <p:cNvPr name="TextBox 5" id="5"/>
            <p:cNvSpPr txBox="true"/>
            <p:nvPr/>
          </p:nvSpPr>
          <p:spPr>
            <a:xfrm rot="0">
              <a:off x="0" y="-47625"/>
              <a:ext cx="5753100" cy="569172"/>
            </a:xfrm>
            <a:prstGeom prst="rect">
              <a:avLst/>
            </a:prstGeom>
          </p:spPr>
          <p:txBody>
            <a:bodyPr anchor="t" rtlCol="false" tIns="0" lIns="0" bIns="0" rIns="0">
              <a:spAutoFit/>
            </a:bodyPr>
            <a:lstStyle/>
            <a:p>
              <a:pPr algn="l" marL="0" indent="0" lvl="0">
                <a:lnSpc>
                  <a:spcPts val="3640"/>
                </a:lnSpc>
              </a:pPr>
              <a:r>
                <a:rPr lang="en-US" b="true" sz="2600">
                  <a:solidFill>
                    <a:srgbClr val="1D1C24"/>
                  </a:solidFill>
                  <a:latin typeface="DM Sans Bold"/>
                  <a:ea typeface="DM Sans Bold"/>
                  <a:cs typeface="DM Sans Bold"/>
                  <a:sym typeface="DM Sans Bold"/>
                </a:rPr>
                <a:t>WEAPONS</a:t>
              </a:r>
            </a:p>
          </p:txBody>
        </p:sp>
      </p:grpSp>
      <p:grpSp>
        <p:nvGrpSpPr>
          <p:cNvPr name="Group 6" id="6"/>
          <p:cNvGrpSpPr/>
          <p:nvPr/>
        </p:nvGrpSpPr>
        <p:grpSpPr>
          <a:xfrm rot="0">
            <a:off x="6419850" y="4248150"/>
            <a:ext cx="4314825" cy="3391992"/>
            <a:chOff x="0" y="0"/>
            <a:chExt cx="5753100" cy="4522656"/>
          </a:xfrm>
        </p:grpSpPr>
        <p:sp>
          <p:nvSpPr>
            <p:cNvPr name="TextBox 7" id="7"/>
            <p:cNvSpPr txBox="true"/>
            <p:nvPr/>
          </p:nvSpPr>
          <p:spPr>
            <a:xfrm rot="0">
              <a:off x="0" y="1146175"/>
              <a:ext cx="5753100" cy="3376481"/>
            </a:xfrm>
            <a:prstGeom prst="rect">
              <a:avLst/>
            </a:prstGeom>
          </p:spPr>
          <p:txBody>
            <a:bodyPr anchor="t" rtlCol="false" tIns="0" lIns="0" bIns="0" rIns="0">
              <a:spAutoFit/>
            </a:bodyPr>
            <a:lstStyle/>
            <a:p>
              <a:pPr algn="l" marL="0" indent="0" lvl="0">
                <a:lnSpc>
                  <a:spcPts val="2939"/>
                </a:lnSpc>
              </a:pPr>
              <a:r>
                <a:rPr lang="en-US" sz="2099">
                  <a:solidFill>
                    <a:srgbClr val="1D1C24"/>
                  </a:solidFill>
                  <a:latin typeface="DM Sans"/>
                  <a:ea typeface="DM Sans"/>
                  <a:cs typeface="DM Sans"/>
                  <a:sym typeface="DM Sans"/>
                </a:rPr>
                <a:t>Enabling </a:t>
              </a:r>
              <a:r>
                <a:rPr lang="en-US" b="true" sz="2099">
                  <a:solidFill>
                    <a:srgbClr val="1D1C24"/>
                  </a:solidFill>
                  <a:latin typeface="DM Sans Bold"/>
                  <a:ea typeface="DM Sans Bold"/>
                  <a:cs typeface="DM Sans Bold"/>
                  <a:sym typeface="DM Sans Bold"/>
                </a:rPr>
                <a:t>friendly fire</a:t>
              </a:r>
              <a:r>
                <a:rPr lang="en-US" sz="2099">
                  <a:solidFill>
                    <a:srgbClr val="1D1C24"/>
                  </a:solidFill>
                  <a:latin typeface="DM Sans"/>
                  <a:ea typeface="DM Sans"/>
                  <a:cs typeface="DM Sans"/>
                  <a:sym typeface="DM Sans"/>
                </a:rPr>
                <a:t> mechanics will encourage teamwork and coordination among players, as positioning becomes crucial to avoid unintended damage during intense encounters and chaotic situations.</a:t>
              </a:r>
            </a:p>
          </p:txBody>
        </p:sp>
        <p:sp>
          <p:nvSpPr>
            <p:cNvPr name="TextBox 8" id="8"/>
            <p:cNvSpPr txBox="true"/>
            <p:nvPr/>
          </p:nvSpPr>
          <p:spPr>
            <a:xfrm rot="0">
              <a:off x="0" y="-47625"/>
              <a:ext cx="5753100" cy="569172"/>
            </a:xfrm>
            <a:prstGeom prst="rect">
              <a:avLst/>
            </a:prstGeom>
          </p:spPr>
          <p:txBody>
            <a:bodyPr anchor="t" rtlCol="false" tIns="0" lIns="0" bIns="0" rIns="0">
              <a:spAutoFit/>
            </a:bodyPr>
            <a:lstStyle/>
            <a:p>
              <a:pPr algn="l" marL="0" indent="0" lvl="0">
                <a:lnSpc>
                  <a:spcPts val="3640"/>
                </a:lnSpc>
              </a:pPr>
              <a:r>
                <a:rPr lang="en-US" b="true" sz="2600">
                  <a:solidFill>
                    <a:srgbClr val="1D1C24"/>
                  </a:solidFill>
                  <a:latin typeface="DM Sans Bold"/>
                  <a:ea typeface="DM Sans Bold"/>
                  <a:cs typeface="DM Sans Bold"/>
                  <a:sym typeface="DM Sans Bold"/>
                </a:rPr>
                <a:t>FRIENDLY FIRE</a:t>
              </a:r>
            </a:p>
          </p:txBody>
        </p:sp>
      </p:grpSp>
      <p:grpSp>
        <p:nvGrpSpPr>
          <p:cNvPr name="Group 9" id="9"/>
          <p:cNvGrpSpPr/>
          <p:nvPr/>
        </p:nvGrpSpPr>
        <p:grpSpPr>
          <a:xfrm rot="0">
            <a:off x="12172950" y="4248150"/>
            <a:ext cx="4314825" cy="3391992"/>
            <a:chOff x="0" y="0"/>
            <a:chExt cx="5753100" cy="4522656"/>
          </a:xfrm>
        </p:grpSpPr>
        <p:sp>
          <p:nvSpPr>
            <p:cNvPr name="TextBox 10" id="10"/>
            <p:cNvSpPr txBox="true"/>
            <p:nvPr/>
          </p:nvSpPr>
          <p:spPr>
            <a:xfrm rot="0">
              <a:off x="0" y="1146175"/>
              <a:ext cx="5753100" cy="3376481"/>
            </a:xfrm>
            <a:prstGeom prst="rect">
              <a:avLst/>
            </a:prstGeom>
          </p:spPr>
          <p:txBody>
            <a:bodyPr anchor="t" rtlCol="false" tIns="0" lIns="0" bIns="0" rIns="0">
              <a:spAutoFit/>
            </a:bodyPr>
            <a:lstStyle/>
            <a:p>
              <a:pPr algn="l" marL="0" indent="0" lvl="0">
                <a:lnSpc>
                  <a:spcPts val="2939"/>
                </a:lnSpc>
              </a:pPr>
              <a:r>
                <a:rPr lang="en-US" sz="2099">
                  <a:solidFill>
                    <a:srgbClr val="1D1C24"/>
                  </a:solidFill>
                  <a:latin typeface="DM Sans"/>
                  <a:ea typeface="DM Sans"/>
                  <a:cs typeface="DM Sans"/>
                  <a:sym typeface="DM Sans"/>
                </a:rPr>
                <a:t>The system supports </a:t>
              </a:r>
              <a:r>
                <a:rPr lang="en-US" b="true" sz="2099">
                  <a:solidFill>
                    <a:srgbClr val="1D1C24"/>
                  </a:solidFill>
                  <a:latin typeface="DM Sans Bold"/>
                  <a:ea typeface="DM Sans Bold"/>
                  <a:cs typeface="DM Sans Bold"/>
                  <a:sym typeface="DM Sans Bold"/>
                </a:rPr>
                <a:t>broad expansion</a:t>
              </a:r>
              <a:r>
                <a:rPr lang="en-US" sz="2099">
                  <a:solidFill>
                    <a:srgbClr val="1D1C24"/>
                  </a:solidFill>
                  <a:latin typeface="DM Sans"/>
                  <a:ea typeface="DM Sans"/>
                  <a:cs typeface="DM Sans"/>
                  <a:sym typeface="DM Sans"/>
                </a:rPr>
                <a:t> of weapon types and functionalities without disrupting core combat rules, allowing continuous engagement and innovation in gameplay for players seeking variety.</a:t>
              </a:r>
            </a:p>
          </p:txBody>
        </p:sp>
        <p:sp>
          <p:nvSpPr>
            <p:cNvPr name="TextBox 11" id="11"/>
            <p:cNvSpPr txBox="true"/>
            <p:nvPr/>
          </p:nvSpPr>
          <p:spPr>
            <a:xfrm rot="0">
              <a:off x="0" y="-47625"/>
              <a:ext cx="5753100" cy="569172"/>
            </a:xfrm>
            <a:prstGeom prst="rect">
              <a:avLst/>
            </a:prstGeom>
          </p:spPr>
          <p:txBody>
            <a:bodyPr anchor="t" rtlCol="false" tIns="0" lIns="0" bIns="0" rIns="0">
              <a:spAutoFit/>
            </a:bodyPr>
            <a:lstStyle/>
            <a:p>
              <a:pPr algn="l" marL="0" indent="0" lvl="0">
                <a:lnSpc>
                  <a:spcPts val="3640"/>
                </a:lnSpc>
              </a:pPr>
              <a:r>
                <a:rPr lang="en-US" b="true" sz="2600">
                  <a:solidFill>
                    <a:srgbClr val="1D1C24"/>
                  </a:solidFill>
                  <a:latin typeface="DM Sans Bold"/>
                  <a:ea typeface="DM Sans Bold"/>
                  <a:cs typeface="DM Sans Bold"/>
                  <a:sym typeface="DM Sans Bold"/>
                </a:rPr>
                <a:t>ARSENAL EXPANSION</a:t>
              </a:r>
            </a:p>
          </p:txBody>
        </p:sp>
      </p:grpSp>
    </p:spTree>
  </p:cSld>
  <p:clrMapOvr>
    <a:masterClrMapping/>
  </p:clrMapOvr>
</p:sld>
</file>

<file path=ppt/slides/slide9.xml><?xml version="1.0" encoding="utf-8"?>
<p:sld xmlns:p="http://schemas.openxmlformats.org/presentationml/2006/main" xmlns:a="http://schemas.openxmlformats.org/drawingml/2006/main">
  <p:cSld>
    <p:bg>
      <p:bgPr>
        <a:solidFill>
          <a:srgbClr val="1D1C24"/>
        </a:solidFill>
      </p:bgPr>
    </p:bg>
    <p:spTree>
      <p:nvGrpSpPr>
        <p:cNvPr id="1" name=""/>
        <p:cNvGrpSpPr/>
        <p:nvPr/>
      </p:nvGrpSpPr>
      <p:grpSpPr>
        <a:xfrm>
          <a:off x="0" y="0"/>
          <a:ext cx="0" cy="0"/>
          <a:chOff x="0" y="0"/>
          <a:chExt cx="0" cy="0"/>
        </a:xfrm>
      </p:grpSpPr>
      <p:sp>
        <p:nvSpPr>
          <p:cNvPr name="TextBox 2" id="2"/>
          <p:cNvSpPr txBox="true"/>
          <p:nvPr/>
        </p:nvSpPr>
        <p:spPr>
          <a:xfrm rot="0">
            <a:off x="666750" y="733425"/>
            <a:ext cx="5753100" cy="3378203"/>
          </a:xfrm>
          <a:prstGeom prst="rect">
            <a:avLst/>
          </a:prstGeom>
        </p:spPr>
        <p:txBody>
          <a:bodyPr anchor="t" rtlCol="false" tIns="0" lIns="0" bIns="0" rIns="0">
            <a:spAutoFit/>
          </a:bodyPr>
          <a:lstStyle/>
          <a:p>
            <a:pPr algn="l" marL="0" indent="0" lvl="0">
              <a:lnSpc>
                <a:spcPts val="8800"/>
              </a:lnSpc>
              <a:spcBef>
                <a:spcPct val="0"/>
              </a:spcBef>
            </a:pPr>
            <a:r>
              <a:rPr lang="en-US" sz="8000">
                <a:solidFill>
                  <a:srgbClr val="F1F1F1"/>
                </a:solidFill>
                <a:latin typeface="Georgia Pro Light"/>
                <a:ea typeface="Georgia Pro Light"/>
                <a:cs typeface="Georgia Pro Light"/>
                <a:sym typeface="Georgia Pro Light"/>
              </a:rPr>
              <a:t>AI Architecture Overview</a:t>
            </a:r>
          </a:p>
        </p:txBody>
      </p:sp>
      <p:sp>
        <p:nvSpPr>
          <p:cNvPr name="TextBox 3" id="3"/>
          <p:cNvSpPr txBox="true"/>
          <p:nvPr/>
        </p:nvSpPr>
        <p:spPr>
          <a:xfrm rot="0">
            <a:off x="9296400" y="2409825"/>
            <a:ext cx="7191375" cy="1442752"/>
          </a:xfrm>
          <a:prstGeom prst="rect">
            <a:avLst/>
          </a:prstGeom>
        </p:spPr>
        <p:txBody>
          <a:bodyPr anchor="t" rtlCol="false" tIns="0" lIns="0" bIns="0" rIns="0">
            <a:spAutoFit/>
          </a:bodyPr>
          <a:lstStyle/>
          <a:p>
            <a:pPr algn="l" marL="0" indent="0" lvl="0">
              <a:lnSpc>
                <a:spcPts val="2903"/>
              </a:lnSpc>
            </a:pPr>
            <a:r>
              <a:rPr lang="en-US" sz="2073">
                <a:solidFill>
                  <a:srgbClr val="F1F1F1"/>
                </a:solidFill>
                <a:latin typeface="DM Sans"/>
                <a:ea typeface="DM Sans"/>
                <a:cs typeface="DM Sans"/>
                <a:sym typeface="DM Sans"/>
              </a:rPr>
              <a:t>The brain model is designed to operate on a tick-based system, executing the </a:t>
            </a:r>
            <a:r>
              <a:rPr lang="en-US" b="true" sz="2073">
                <a:solidFill>
                  <a:srgbClr val="F1F1F1"/>
                </a:solidFill>
                <a:latin typeface="DM Sans Bold"/>
                <a:ea typeface="DM Sans Bold"/>
                <a:cs typeface="DM Sans Bold"/>
                <a:sym typeface="DM Sans Bold"/>
              </a:rPr>
              <a:t>Sense → Decide → Act</a:t>
            </a:r>
            <a:r>
              <a:rPr lang="en-US" sz="2073">
                <a:solidFill>
                  <a:srgbClr val="F1F1F1"/>
                </a:solidFill>
                <a:latin typeface="DM Sans"/>
                <a:ea typeface="DM Sans"/>
                <a:cs typeface="DM Sans"/>
                <a:sym typeface="DM Sans"/>
              </a:rPr>
              <a:t> cycle continuously, while incorporating event-driven interrupts to respond quickly to urgent stimuli.</a:t>
            </a:r>
          </a:p>
        </p:txBody>
      </p:sp>
      <p:sp>
        <p:nvSpPr>
          <p:cNvPr name="TextBox 4" id="4"/>
          <p:cNvSpPr txBox="true"/>
          <p:nvPr/>
        </p:nvSpPr>
        <p:spPr>
          <a:xfrm rot="0">
            <a:off x="9296400" y="1514475"/>
            <a:ext cx="7191375" cy="438785"/>
          </a:xfrm>
          <a:prstGeom prst="rect">
            <a:avLst/>
          </a:prstGeom>
        </p:spPr>
        <p:txBody>
          <a:bodyPr anchor="t" rtlCol="false" tIns="0" lIns="0" bIns="0" rIns="0">
            <a:spAutoFit/>
          </a:bodyPr>
          <a:lstStyle/>
          <a:p>
            <a:pPr algn="l" marL="0" indent="0" lvl="0">
              <a:lnSpc>
                <a:spcPts val="3640"/>
              </a:lnSpc>
            </a:pPr>
            <a:r>
              <a:rPr lang="en-US" b="true" sz="2600">
                <a:solidFill>
                  <a:srgbClr val="F1F1F1"/>
                </a:solidFill>
                <a:latin typeface="DM Sans Bold"/>
                <a:ea typeface="DM Sans Bold"/>
                <a:cs typeface="DM Sans Bold"/>
                <a:sym typeface="DM Sans Bold"/>
              </a:rPr>
              <a:t>BRAIN MODEL</a:t>
            </a:r>
          </a:p>
        </p:txBody>
      </p:sp>
      <p:sp>
        <p:nvSpPr>
          <p:cNvPr name="TextBox 5" id="5"/>
          <p:cNvSpPr txBox="true"/>
          <p:nvPr/>
        </p:nvSpPr>
        <p:spPr>
          <a:xfrm rot="0">
            <a:off x="9296400" y="5095875"/>
            <a:ext cx="7191375" cy="3614452"/>
          </a:xfrm>
          <a:prstGeom prst="rect">
            <a:avLst/>
          </a:prstGeom>
        </p:spPr>
        <p:txBody>
          <a:bodyPr anchor="t" rtlCol="false" tIns="0" lIns="0" bIns="0" rIns="0">
            <a:spAutoFit/>
          </a:bodyPr>
          <a:lstStyle/>
          <a:p>
            <a:pPr algn="l" marL="0" indent="0" lvl="0">
              <a:lnSpc>
                <a:spcPts val="2903"/>
              </a:lnSpc>
            </a:pPr>
            <a:r>
              <a:rPr lang="en-US" sz="2073">
                <a:solidFill>
                  <a:srgbClr val="F1F1F1"/>
                </a:solidFill>
                <a:latin typeface="DM Sans"/>
                <a:ea typeface="DM Sans"/>
                <a:cs typeface="DM Sans"/>
                <a:sym typeface="DM Sans"/>
              </a:rPr>
              <a:t>This system allows for a configurable brain tick rate, adjusting the responsiveness of AI agents. Default settings run every tick, with a fallback to every five ticks for performance optimization.</a:t>
            </a:r>
          </a:p>
          <a:p>
            <a:pPr algn="l" marL="0" indent="0" lvl="0">
              <a:lnSpc>
                <a:spcPts val="2903"/>
              </a:lnSpc>
            </a:pPr>
          </a:p>
          <a:p>
            <a:pPr algn="l" marL="0" indent="0" lvl="0">
              <a:lnSpc>
                <a:spcPts val="2903"/>
              </a:lnSpc>
            </a:pPr>
            <a:r>
              <a:rPr lang="en-US" sz="2073">
                <a:solidFill>
                  <a:srgbClr val="F1F1F1"/>
                </a:solidFill>
                <a:latin typeface="DM Sans"/>
                <a:ea typeface="DM Sans"/>
                <a:cs typeface="DM Sans"/>
                <a:sym typeface="DM Sans"/>
              </a:rPr>
              <a:t>6 BRAIN TYPES:</a:t>
            </a:r>
          </a:p>
          <a:p>
            <a:pPr algn="l" marL="0" indent="0" lvl="0">
              <a:lnSpc>
                <a:spcPts val="2903"/>
              </a:lnSpc>
            </a:pPr>
            <a:r>
              <a:rPr lang="en-US" sz="2073">
                <a:solidFill>
                  <a:srgbClr val="F1F1F1"/>
                </a:solidFill>
                <a:latin typeface="DM Sans"/>
                <a:ea typeface="DM Sans"/>
                <a:cs typeface="DM Sans"/>
                <a:sym typeface="DM Sans"/>
              </a:rPr>
              <a:t>Balanced | Explorer | Cautious | Aggressive | Hoarder | Social</a:t>
            </a:r>
          </a:p>
          <a:p>
            <a:pPr algn="l" marL="0" indent="0" lvl="0">
              <a:lnSpc>
                <a:spcPts val="2903"/>
              </a:lnSpc>
            </a:pPr>
            <a:r>
              <a:rPr lang="en-US" sz="2073">
                <a:solidFill>
                  <a:srgbClr val="F1F1F1"/>
                </a:solidFill>
                <a:latin typeface="DM Sans"/>
                <a:ea typeface="DM Sans"/>
                <a:cs typeface="DM Sans"/>
                <a:sym typeface="DM Sans"/>
              </a:rPr>
              <a:t>Each brain type has unique priorities for survival, combat, exploration, and resource management.</a:t>
            </a:r>
          </a:p>
        </p:txBody>
      </p:sp>
      <p:sp>
        <p:nvSpPr>
          <p:cNvPr name="TextBox 6" id="6"/>
          <p:cNvSpPr txBox="true"/>
          <p:nvPr/>
        </p:nvSpPr>
        <p:spPr>
          <a:xfrm rot="0">
            <a:off x="9296400" y="4200525"/>
            <a:ext cx="7191375" cy="438785"/>
          </a:xfrm>
          <a:prstGeom prst="rect">
            <a:avLst/>
          </a:prstGeom>
        </p:spPr>
        <p:txBody>
          <a:bodyPr anchor="t" rtlCol="false" tIns="0" lIns="0" bIns="0" rIns="0">
            <a:spAutoFit/>
          </a:bodyPr>
          <a:lstStyle/>
          <a:p>
            <a:pPr algn="l" marL="0" indent="0" lvl="0">
              <a:lnSpc>
                <a:spcPts val="3640"/>
              </a:lnSpc>
            </a:pPr>
            <a:r>
              <a:rPr lang="en-US" b="true" sz="2600">
                <a:solidFill>
                  <a:srgbClr val="F1F1F1"/>
                </a:solidFill>
                <a:latin typeface="DM Sans Bold"/>
                <a:ea typeface="DM Sans Bold"/>
                <a:cs typeface="DM Sans Bold"/>
                <a:sym typeface="DM Sans Bold"/>
              </a:rPr>
              <a:t>CONFIGURABLE TICK RATE</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1D1C24"/>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8324850" cy="6718881"/>
            <a:chOff x="0" y="0"/>
            <a:chExt cx="11099800" cy="8958508"/>
          </a:xfrm>
        </p:grpSpPr>
        <p:sp>
          <p:nvSpPr>
            <p:cNvPr name="TextBox 3" id="3"/>
            <p:cNvSpPr txBox="true"/>
            <p:nvPr/>
          </p:nvSpPr>
          <p:spPr>
            <a:xfrm rot="0">
              <a:off x="0" y="66675"/>
              <a:ext cx="11099800" cy="3040596"/>
            </a:xfrm>
            <a:prstGeom prst="rect">
              <a:avLst/>
            </a:prstGeom>
          </p:spPr>
          <p:txBody>
            <a:bodyPr anchor="t" rtlCol="false" tIns="0" lIns="0" bIns="0" rIns="0">
              <a:spAutoFit/>
            </a:bodyPr>
            <a:lstStyle/>
            <a:p>
              <a:pPr algn="l" marL="0" indent="0" lvl="0">
                <a:lnSpc>
                  <a:spcPts val="8800"/>
                </a:lnSpc>
              </a:pPr>
              <a:r>
                <a:rPr lang="en-US" sz="8000">
                  <a:solidFill>
                    <a:srgbClr val="F1F1F1"/>
                  </a:solidFill>
                  <a:latin typeface="Georgia Pro Light"/>
                  <a:ea typeface="Georgia Pro Light"/>
                  <a:cs typeface="Georgia Pro Light"/>
                  <a:sym typeface="Georgia Pro Light"/>
                </a:rPr>
                <a:t>Roadmap and Risks</a:t>
              </a:r>
            </a:p>
          </p:txBody>
        </p:sp>
        <p:sp>
          <p:nvSpPr>
            <p:cNvPr name="TextBox 4" id="4"/>
            <p:cNvSpPr txBox="true"/>
            <p:nvPr/>
          </p:nvSpPr>
          <p:spPr>
            <a:xfrm rot="0">
              <a:off x="0" y="3533703"/>
              <a:ext cx="11099800" cy="5424805"/>
            </a:xfrm>
            <a:prstGeom prst="rect">
              <a:avLst/>
            </a:prstGeom>
          </p:spPr>
          <p:txBody>
            <a:bodyPr anchor="t" rtlCol="false" tIns="0" lIns="0" bIns="0" rIns="0">
              <a:spAutoFit/>
            </a:bodyPr>
            <a:lstStyle/>
            <a:p>
              <a:pPr algn="l" marL="0" indent="0" lvl="0">
                <a:lnSpc>
                  <a:spcPts val="2940"/>
                </a:lnSpc>
              </a:pPr>
              <a:r>
                <a:rPr lang="en-US" sz="2100">
                  <a:solidFill>
                    <a:srgbClr val="F1F1F1"/>
                  </a:solidFill>
                  <a:latin typeface="DM Sans"/>
                  <a:ea typeface="DM Sans"/>
                  <a:cs typeface="DM Sans"/>
                  <a:sym typeface="DM Sans"/>
                </a:rPr>
                <a:t>Sprint 1 (Feb): Business plan, prototype PoC, UML diagrams</a:t>
              </a:r>
            </a:p>
            <a:p>
              <a:pPr algn="l" marL="0" indent="0" lvl="0">
                <a:lnSpc>
                  <a:spcPts val="2940"/>
                </a:lnSpc>
              </a:pPr>
              <a:r>
                <a:rPr lang="en-US" sz="2100">
                  <a:solidFill>
                    <a:srgbClr val="F1F1F1"/>
                  </a:solidFill>
                  <a:latin typeface="DM Sans"/>
                  <a:ea typeface="DM Sans"/>
                  <a:cs typeface="DM Sans"/>
                  <a:sym typeface="DM Sans"/>
                </a:rPr>
                <a:t>Sprint 2 (Mar): Phase 0 - Core architecture, map system, entity framework</a:t>
              </a:r>
            </a:p>
            <a:p>
              <a:pPr algn="l" marL="0" indent="0" lvl="0">
                <a:lnSpc>
                  <a:spcPts val="2940"/>
                </a:lnSpc>
              </a:pPr>
              <a:r>
                <a:rPr lang="en-US" sz="2100">
                  <a:solidFill>
                    <a:srgbClr val="F1F1F1"/>
                  </a:solidFill>
                  <a:latin typeface="DM Sans"/>
                  <a:ea typeface="DM Sans"/>
                  <a:cs typeface="DM Sans"/>
                  <a:sym typeface="DM Sans"/>
                </a:rPr>
                <a:t>Sprint 3 (Apr): Phase 1-2 - Gameplay loop, AI brain system, trading</a:t>
              </a:r>
            </a:p>
            <a:p>
              <a:pPr algn="l" marL="0" indent="0" lvl="0">
                <a:lnSpc>
                  <a:spcPts val="2940"/>
                </a:lnSpc>
              </a:pPr>
              <a:r>
                <a:rPr lang="en-US" sz="2100">
                  <a:solidFill>
                    <a:srgbClr val="F1F1F1"/>
                  </a:solidFill>
                  <a:latin typeface="DM Sans"/>
                  <a:ea typeface="DM Sans"/>
                  <a:cs typeface="DM Sans"/>
                  <a:sym typeface="DM Sans"/>
                </a:rPr>
                <a:t>Sprint 4 (May): Phase 3-4 - Director AI, polish, final presentation</a:t>
              </a:r>
            </a:p>
            <a:p>
              <a:pPr algn="l" marL="0" indent="0" lvl="0">
                <a:lnSpc>
                  <a:spcPts val="2940"/>
                </a:lnSpc>
              </a:pPr>
            </a:p>
            <a:p>
              <a:pPr algn="l" marL="0" indent="0" lvl="0">
                <a:lnSpc>
                  <a:spcPts val="2940"/>
                </a:lnSpc>
              </a:pPr>
              <a:r>
                <a:rPr lang="en-US" sz="2100">
                  <a:solidFill>
                    <a:srgbClr val="F1F1F1"/>
                  </a:solidFill>
                  <a:latin typeface="DM Sans"/>
                  <a:ea typeface="DM Sans"/>
                  <a:cs typeface="DM Sans"/>
                  <a:sym typeface="DM Sans"/>
                </a:rPr>
                <a:t>Key Risks:</a:t>
              </a:r>
            </a:p>
            <a:p>
              <a:pPr algn="l" marL="0" indent="0" lvl="0">
                <a:lnSpc>
                  <a:spcPts val="2940"/>
                </a:lnSpc>
              </a:pPr>
              <a:r>
                <a:rPr lang="en-US" sz="2100">
                  <a:solidFill>
                    <a:srgbClr val="F1F1F1"/>
                  </a:solidFill>
                  <a:latin typeface="DM Sans"/>
                  <a:ea typeface="DM Sans"/>
                  <a:cs typeface="DM Sans"/>
                  <a:sym typeface="DM Sans"/>
                </a:rPr>
                <a:t>- Scope creep from WSS1 to WSS2 feature expansion</a:t>
              </a:r>
            </a:p>
            <a:p>
              <a:pPr algn="l" marL="0" indent="0" lvl="0">
                <a:lnSpc>
                  <a:spcPts val="2940"/>
                </a:lnSpc>
              </a:pPr>
              <a:r>
                <a:rPr lang="en-US" sz="2100">
                  <a:solidFill>
                    <a:srgbClr val="F1F1F1"/>
                  </a:solidFill>
                  <a:latin typeface="DM Sans"/>
                  <a:ea typeface="DM Sans"/>
                  <a:cs typeface="DM Sans"/>
                  <a:sym typeface="DM Sans"/>
                </a:rPr>
                <a:t>- AI complexity vs. timeline constraints</a:t>
              </a:r>
            </a:p>
            <a:p>
              <a:pPr algn="l" marL="0" indent="0" lvl="0">
                <a:lnSpc>
                  <a:spcPts val="2940"/>
                </a:lnSpc>
              </a:pPr>
              <a:r>
                <a:rPr lang="en-US" sz="2100">
                  <a:solidFill>
                    <a:srgbClr val="F1F1F1"/>
                  </a:solidFill>
                  <a:latin typeface="DM Sans"/>
                  <a:ea typeface="DM Sans"/>
                  <a:cs typeface="DM Sans"/>
                  <a:sym typeface="DM Sans"/>
                </a:rPr>
                <a:t>- Solo developer bandwidth limitations</a:t>
              </a:r>
            </a:p>
            <a:p>
              <a:pPr algn="l" marL="0" indent="0" lvl="0">
                <a:lnSpc>
                  <a:spcPts val="2940"/>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0734675" y="0"/>
            <a:ext cx="7553325" cy="10287000"/>
            <a:chOff x="0" y="0"/>
            <a:chExt cx="2134273" cy="2906702"/>
          </a:xfrm>
        </p:grpSpPr>
        <p:sp>
          <p:nvSpPr>
            <p:cNvPr name="Freeform 3" id="3"/>
            <p:cNvSpPr/>
            <p:nvPr/>
          </p:nvSpPr>
          <p:spPr>
            <a:xfrm flipH="false" flipV="false" rot="0">
              <a:off x="0" y="0"/>
              <a:ext cx="2134273" cy="2906702"/>
            </a:xfrm>
            <a:custGeom>
              <a:avLst/>
              <a:gdLst/>
              <a:ahLst/>
              <a:cxnLst/>
              <a:rect r="r" b="b" t="t" l="l"/>
              <a:pathLst>
                <a:path h="2906702" w="2134273">
                  <a:moveTo>
                    <a:pt x="0" y="0"/>
                  </a:moveTo>
                  <a:lnTo>
                    <a:pt x="2134273" y="0"/>
                  </a:lnTo>
                  <a:lnTo>
                    <a:pt x="2134273" y="2906702"/>
                  </a:lnTo>
                  <a:lnTo>
                    <a:pt x="0" y="2906702"/>
                  </a:lnTo>
                  <a:close/>
                </a:path>
              </a:pathLst>
            </a:custGeom>
            <a:blipFill>
              <a:blip r:embed="rId3"/>
              <a:stretch>
                <a:fillRect l="0" t="-205" r="0" b="-205"/>
              </a:stretch>
            </a:blipFill>
          </p:spPr>
        </p:sp>
      </p:grpSp>
      <p:sp>
        <p:nvSpPr>
          <p:cNvPr name="TextBox 4" id="4"/>
          <p:cNvSpPr txBox="true"/>
          <p:nvPr/>
        </p:nvSpPr>
        <p:spPr>
          <a:xfrm rot="0">
            <a:off x="666750" y="733425"/>
            <a:ext cx="8629650" cy="1149353"/>
          </a:xfrm>
          <a:prstGeom prst="rect">
            <a:avLst/>
          </a:prstGeom>
        </p:spPr>
        <p:txBody>
          <a:bodyPr anchor="t" rtlCol="false" tIns="0" lIns="0" bIns="0" rIns="0">
            <a:spAutoFit/>
          </a:bodyPr>
          <a:lstStyle/>
          <a:p>
            <a:pPr algn="l" marL="0" indent="0" lvl="0">
              <a:lnSpc>
                <a:spcPts val="8800"/>
              </a:lnSpc>
            </a:pPr>
            <a:r>
              <a:rPr lang="en-US" b="true" sz="8000">
                <a:solidFill>
                  <a:srgbClr val="1D1C24"/>
                </a:solidFill>
                <a:latin typeface="Georgia Pro Bold"/>
                <a:ea typeface="Georgia Pro Bold"/>
                <a:cs typeface="Georgia Pro Bold"/>
                <a:sym typeface="Georgia Pro Bold"/>
              </a:rPr>
              <a:t>Success Criteria</a:t>
            </a:r>
          </a:p>
        </p:txBody>
      </p:sp>
      <p:grpSp>
        <p:nvGrpSpPr>
          <p:cNvPr name="Group 5" id="5"/>
          <p:cNvGrpSpPr/>
          <p:nvPr/>
        </p:nvGrpSpPr>
        <p:grpSpPr>
          <a:xfrm rot="0">
            <a:off x="2105025" y="3986213"/>
            <a:ext cx="5753100" cy="5166360"/>
            <a:chOff x="0" y="0"/>
            <a:chExt cx="7670800" cy="6888480"/>
          </a:xfrm>
        </p:grpSpPr>
        <p:sp>
          <p:nvSpPr>
            <p:cNvPr name="TextBox 6" id="6"/>
            <p:cNvSpPr txBox="true"/>
            <p:nvPr/>
          </p:nvSpPr>
          <p:spPr>
            <a:xfrm rot="0">
              <a:off x="0" y="1278255"/>
              <a:ext cx="7670800" cy="525145"/>
            </a:xfrm>
            <a:prstGeom prst="rect">
              <a:avLst/>
            </a:prstGeom>
          </p:spPr>
          <p:txBody>
            <a:bodyPr anchor="t" rtlCol="false" tIns="0" lIns="0" bIns="0" rIns="0">
              <a:spAutoFit/>
            </a:bodyPr>
            <a:lstStyle/>
            <a:p>
              <a:pPr algn="l" marL="0" indent="0" lvl="0">
                <a:lnSpc>
                  <a:spcPts val="3359"/>
                </a:lnSpc>
              </a:pPr>
              <a:r>
                <a:rPr lang="en-US" sz="2400">
                  <a:solidFill>
                    <a:srgbClr val="1D1C24"/>
                  </a:solidFill>
                  <a:latin typeface="DM Sans"/>
                  <a:ea typeface="DM Sans"/>
                  <a:cs typeface="DM Sans"/>
                  <a:sym typeface="DM Sans"/>
                </a:rPr>
                <a:t>WSS2</a:t>
              </a:r>
              <a:r>
                <a:rPr lang="en-US" sz="2400">
                  <a:solidFill>
                    <a:srgbClr val="1D1C24"/>
                  </a:solidFill>
                  <a:latin typeface="DM Sans"/>
                  <a:ea typeface="DM Sans"/>
                  <a:cs typeface="DM Sans"/>
                  <a:sym typeface="DM Sans"/>
                </a:rPr>
                <a:t> Development Goals</a:t>
              </a:r>
            </a:p>
          </p:txBody>
        </p:sp>
        <p:sp>
          <p:nvSpPr>
            <p:cNvPr name="TextBox 7" id="7"/>
            <p:cNvSpPr txBox="true"/>
            <p:nvPr/>
          </p:nvSpPr>
          <p:spPr>
            <a:xfrm rot="0">
              <a:off x="0" y="2949575"/>
              <a:ext cx="7670800" cy="3938905"/>
            </a:xfrm>
            <a:prstGeom prst="rect">
              <a:avLst/>
            </a:prstGeom>
          </p:spPr>
          <p:txBody>
            <a:bodyPr anchor="t" rtlCol="false" tIns="0" lIns="0" bIns="0" rIns="0">
              <a:spAutoFit/>
            </a:bodyPr>
            <a:lstStyle/>
            <a:p>
              <a:pPr algn="l" marL="0" indent="0" lvl="0">
                <a:lnSpc>
                  <a:spcPts val="2940"/>
                </a:lnSpc>
              </a:pPr>
              <a:r>
                <a:rPr lang="en-US" sz="2100">
                  <a:solidFill>
                    <a:srgbClr val="1D1C24"/>
                  </a:solidFill>
                  <a:latin typeface="DM Sans"/>
                  <a:ea typeface="DM Sans"/>
                  <a:cs typeface="DM Sans"/>
                  <a:sym typeface="DM Sans"/>
                </a:rPr>
                <a:t>Stable core gameplay loop running at 60 tps</a:t>
              </a:r>
            </a:p>
            <a:p>
              <a:pPr algn="l" marL="0" indent="0" lvl="0">
                <a:lnSpc>
                  <a:spcPts val="2940"/>
                </a:lnSpc>
              </a:pPr>
              <a:r>
                <a:rPr lang="en-US" sz="2100">
                  <a:solidFill>
                    <a:srgbClr val="1D1C24"/>
                  </a:solidFill>
                  <a:latin typeface="DM Sans"/>
                  <a:ea typeface="DM Sans"/>
                  <a:cs typeface="DM Sans"/>
                  <a:sym typeface="DM Sans"/>
                </a:rPr>
                <a:t>AI agents with observable, explainable behavior</a:t>
              </a:r>
            </a:p>
            <a:p>
              <a:pPr algn="l" marL="0" indent="0" lvl="0">
                <a:lnSpc>
                  <a:spcPts val="2940"/>
                </a:lnSpc>
              </a:pPr>
              <a:r>
                <a:rPr lang="en-US" sz="2100">
                  <a:solidFill>
                    <a:srgbClr val="1D1C24"/>
                  </a:solidFill>
                  <a:latin typeface="DM Sans"/>
                  <a:ea typeface="DM Sans"/>
                  <a:cs typeface="DM Sans"/>
                  <a:sym typeface="DM Sans"/>
                </a:rPr>
                <a:t>Modular Vision-Brain architecture operational</a:t>
              </a:r>
            </a:p>
            <a:p>
              <a:pPr algn="l" marL="0" indent="0" lvl="0">
                <a:lnSpc>
                  <a:spcPts val="2940"/>
                </a:lnSpc>
              </a:pPr>
              <a:r>
                <a:rPr lang="en-US" sz="2100">
                  <a:solidFill>
                    <a:srgbClr val="1D1C24"/>
                  </a:solidFill>
                  <a:latin typeface="DM Sans"/>
                  <a:ea typeface="DM Sans"/>
                  <a:cs typeface="DM Sans"/>
                  <a:sym typeface="DM Sans"/>
                </a:rPr>
                <a:t>6 distinct brain types demonstrating unique strategies</a:t>
              </a:r>
            </a:p>
            <a:p>
              <a:pPr algn="l" marL="0" indent="0" lvl="0">
                <a:lnSpc>
                  <a:spcPts val="2940"/>
                </a:lnSpc>
              </a:pPr>
              <a:r>
                <a:rPr lang="en-US" sz="2100">
                  <a:solidFill>
                    <a:srgbClr val="1D1C24"/>
                  </a:solidFill>
                  <a:latin typeface="DM Sans"/>
                  <a:ea typeface="DM Sans"/>
                  <a:cs typeface="DM Sans"/>
                  <a:sym typeface="DM Sans"/>
                </a:rPr>
                <a:t>Functional trading and economy system</a:t>
              </a:r>
            </a:p>
            <a:p>
              <a:pPr algn="l" marL="0" indent="0" lvl="0">
                <a:lnSpc>
                  <a:spcPts val="2940"/>
                </a:lnSpc>
              </a:pPr>
              <a:r>
                <a:rPr lang="en-US" sz="2100">
                  <a:solidFill>
                    <a:srgbClr val="1D1C24"/>
                  </a:solidFill>
                  <a:latin typeface="DM Sans"/>
                  <a:ea typeface="DM Sans"/>
                  <a:cs typeface="DM Sans"/>
                  <a:sym typeface="DM Sans"/>
                </a:rPr>
                <a:t>Replit prototype as proof of concept (WSS1)</a:t>
              </a:r>
            </a:p>
          </p:txBody>
        </p:sp>
        <p:sp>
          <p:nvSpPr>
            <p:cNvPr name="TextBox 8" id="8"/>
            <p:cNvSpPr txBox="true"/>
            <p:nvPr/>
          </p:nvSpPr>
          <p:spPr>
            <a:xfrm rot="0">
              <a:off x="0" y="-47625"/>
              <a:ext cx="7670800" cy="1178772"/>
            </a:xfrm>
            <a:prstGeom prst="rect">
              <a:avLst/>
            </a:prstGeom>
          </p:spPr>
          <p:txBody>
            <a:bodyPr anchor="t" rtlCol="false" tIns="0" lIns="0" bIns="0" rIns="0">
              <a:spAutoFit/>
            </a:bodyPr>
            <a:lstStyle/>
            <a:p>
              <a:pPr algn="l" marL="0" indent="0" lvl="0">
                <a:lnSpc>
                  <a:spcPts val="3640"/>
                </a:lnSpc>
              </a:pPr>
              <a:r>
                <a:rPr lang="en-US" b="true" sz="2600">
                  <a:solidFill>
                    <a:srgbClr val="1D1C24"/>
                  </a:solidFill>
                  <a:latin typeface="DM Sans Bold"/>
                  <a:ea typeface="DM Sans Bold"/>
                  <a:cs typeface="DM Sans Bold"/>
                  <a:sym typeface="DM Sans Bold"/>
                </a:rPr>
                <a:t>SUCCESS</a:t>
              </a:r>
              <a:r>
                <a:rPr lang="en-US" b="true" sz="2600">
                  <a:solidFill>
                    <a:srgbClr val="1D1C24"/>
                  </a:solidFill>
                  <a:latin typeface="DM Sans Bold"/>
                  <a:ea typeface="DM Sans Bold"/>
                  <a:cs typeface="DM Sans Bold"/>
                  <a:sym typeface="DM Sans Bold"/>
                </a:rPr>
                <a:t> METRICS</a:t>
              </a:r>
            </a:p>
            <a:p>
              <a:pPr algn="l" marL="0" indent="0" lvl="0">
                <a:lnSpc>
                  <a:spcPts val="3640"/>
                </a:lnSpc>
              </a:pPr>
              <a:r>
                <a:rPr lang="en-US" b="true" sz="2600">
                  <a:solidFill>
                    <a:srgbClr val="1D1C24"/>
                  </a:solidFill>
                  <a:latin typeface="DM Sans Bold"/>
                  <a:ea typeface="DM Sans Bold"/>
                  <a:cs typeface="DM Sans Bold"/>
                  <a:sym typeface="DM Sans Bold"/>
                </a:rPr>
                <a:t>PROJECT MILESTONES</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0734675" y="0"/>
            <a:ext cx="7553325" cy="10287000"/>
            <a:chOff x="0" y="0"/>
            <a:chExt cx="1170208" cy="1593725"/>
          </a:xfrm>
        </p:grpSpPr>
        <p:sp>
          <p:nvSpPr>
            <p:cNvPr name="Freeform 3" id="3"/>
            <p:cNvSpPr/>
            <p:nvPr/>
          </p:nvSpPr>
          <p:spPr>
            <a:xfrm flipH="false" flipV="false" rot="0">
              <a:off x="0" y="0"/>
              <a:ext cx="1170208" cy="1593725"/>
            </a:xfrm>
            <a:custGeom>
              <a:avLst/>
              <a:gdLst/>
              <a:ahLst/>
              <a:cxnLst/>
              <a:rect r="r" b="b" t="t" l="l"/>
              <a:pathLst>
                <a:path h="1593725" w="1170208">
                  <a:moveTo>
                    <a:pt x="0" y="0"/>
                  </a:moveTo>
                  <a:lnTo>
                    <a:pt x="1170208" y="0"/>
                  </a:lnTo>
                  <a:lnTo>
                    <a:pt x="1170208" y="1593725"/>
                  </a:lnTo>
                  <a:lnTo>
                    <a:pt x="0" y="1593725"/>
                  </a:lnTo>
                  <a:close/>
                </a:path>
              </a:pathLst>
            </a:custGeom>
            <a:blipFill>
              <a:blip r:embed="rId3"/>
              <a:stretch>
                <a:fillRect l="0" t="-205" r="0" b="-205"/>
              </a:stretch>
            </a:blipFill>
          </p:spPr>
        </p:sp>
      </p:grpSp>
      <p:grpSp>
        <p:nvGrpSpPr>
          <p:cNvPr name="Group 4" id="4"/>
          <p:cNvGrpSpPr/>
          <p:nvPr/>
        </p:nvGrpSpPr>
        <p:grpSpPr>
          <a:xfrm rot="0">
            <a:off x="2105025" y="6038850"/>
            <a:ext cx="796706" cy="781952"/>
            <a:chOff x="0" y="0"/>
            <a:chExt cx="685800" cy="673100"/>
          </a:xfrm>
        </p:grpSpPr>
        <p:sp>
          <p:nvSpPr>
            <p:cNvPr name="Freeform 5" id="5"/>
            <p:cNvSpPr/>
            <p:nvPr/>
          </p:nvSpPr>
          <p:spPr>
            <a:xfrm flipH="false" flipV="false" rot="0">
              <a:off x="0" y="0"/>
              <a:ext cx="685800" cy="668020"/>
            </a:xfrm>
            <a:custGeom>
              <a:avLst/>
              <a:gdLst/>
              <a:ahLst/>
              <a:cxnLst/>
              <a:rect r="r" b="b" t="t" l="l"/>
              <a:pathLst>
                <a:path h="668020" w="685800">
                  <a:moveTo>
                    <a:pt x="342900" y="0"/>
                  </a:moveTo>
                  <a:lnTo>
                    <a:pt x="434340" y="162560"/>
                  </a:lnTo>
                  <a:lnTo>
                    <a:pt x="618490" y="132080"/>
                  </a:lnTo>
                  <a:lnTo>
                    <a:pt x="547370" y="304800"/>
                  </a:lnTo>
                  <a:lnTo>
                    <a:pt x="685800" y="430530"/>
                  </a:lnTo>
                  <a:lnTo>
                    <a:pt x="506730" y="482600"/>
                  </a:lnTo>
                  <a:lnTo>
                    <a:pt x="495300" y="668020"/>
                  </a:lnTo>
                  <a:lnTo>
                    <a:pt x="342900" y="561340"/>
                  </a:lnTo>
                  <a:lnTo>
                    <a:pt x="190500" y="668020"/>
                  </a:lnTo>
                  <a:lnTo>
                    <a:pt x="179070" y="482600"/>
                  </a:lnTo>
                  <a:lnTo>
                    <a:pt x="0" y="430530"/>
                  </a:lnTo>
                  <a:lnTo>
                    <a:pt x="138430" y="304800"/>
                  </a:lnTo>
                  <a:lnTo>
                    <a:pt x="67310" y="132080"/>
                  </a:lnTo>
                  <a:lnTo>
                    <a:pt x="251460" y="162560"/>
                  </a:lnTo>
                  <a:close/>
                </a:path>
              </a:pathLst>
            </a:custGeom>
            <a:solidFill>
              <a:srgbClr val="1D1C24"/>
            </a:solidFill>
          </p:spPr>
        </p:sp>
        <p:sp>
          <p:nvSpPr>
            <p:cNvPr name="TextBox 6" id="6"/>
            <p:cNvSpPr txBox="true"/>
            <p:nvPr/>
          </p:nvSpPr>
          <p:spPr>
            <a:xfrm>
              <a:off x="139700" y="117475"/>
              <a:ext cx="406400" cy="441325"/>
            </a:xfrm>
            <a:prstGeom prst="rect">
              <a:avLst/>
            </a:prstGeom>
          </p:spPr>
          <p:txBody>
            <a:bodyPr anchor="ctr" rtlCol="false" tIns="50800" lIns="50800" bIns="50800" rIns="50800"/>
            <a:lstStyle/>
            <a:p>
              <a:pPr algn="ctr">
                <a:lnSpc>
                  <a:spcPts val="2940"/>
                </a:lnSpc>
              </a:pPr>
            </a:p>
          </p:txBody>
        </p:sp>
      </p:grpSp>
      <p:grpSp>
        <p:nvGrpSpPr>
          <p:cNvPr name="Group 7" id="7"/>
          <p:cNvGrpSpPr/>
          <p:nvPr/>
        </p:nvGrpSpPr>
        <p:grpSpPr>
          <a:xfrm rot="0">
            <a:off x="2105025" y="7829550"/>
            <a:ext cx="796706" cy="781952"/>
            <a:chOff x="0" y="0"/>
            <a:chExt cx="685800" cy="673100"/>
          </a:xfrm>
        </p:grpSpPr>
        <p:sp>
          <p:nvSpPr>
            <p:cNvPr name="Freeform 8" id="8"/>
            <p:cNvSpPr/>
            <p:nvPr/>
          </p:nvSpPr>
          <p:spPr>
            <a:xfrm flipH="false" flipV="false" rot="0">
              <a:off x="0" y="0"/>
              <a:ext cx="685800" cy="668020"/>
            </a:xfrm>
            <a:custGeom>
              <a:avLst/>
              <a:gdLst/>
              <a:ahLst/>
              <a:cxnLst/>
              <a:rect r="r" b="b" t="t" l="l"/>
              <a:pathLst>
                <a:path h="668020" w="685800">
                  <a:moveTo>
                    <a:pt x="342900" y="0"/>
                  </a:moveTo>
                  <a:lnTo>
                    <a:pt x="434340" y="162560"/>
                  </a:lnTo>
                  <a:lnTo>
                    <a:pt x="618490" y="132080"/>
                  </a:lnTo>
                  <a:lnTo>
                    <a:pt x="547370" y="304800"/>
                  </a:lnTo>
                  <a:lnTo>
                    <a:pt x="685800" y="430530"/>
                  </a:lnTo>
                  <a:lnTo>
                    <a:pt x="506730" y="482600"/>
                  </a:lnTo>
                  <a:lnTo>
                    <a:pt x="495300" y="668020"/>
                  </a:lnTo>
                  <a:lnTo>
                    <a:pt x="342900" y="561340"/>
                  </a:lnTo>
                  <a:lnTo>
                    <a:pt x="190500" y="668020"/>
                  </a:lnTo>
                  <a:lnTo>
                    <a:pt x="179070" y="482600"/>
                  </a:lnTo>
                  <a:lnTo>
                    <a:pt x="0" y="430530"/>
                  </a:lnTo>
                  <a:lnTo>
                    <a:pt x="138430" y="304800"/>
                  </a:lnTo>
                  <a:lnTo>
                    <a:pt x="67310" y="132080"/>
                  </a:lnTo>
                  <a:lnTo>
                    <a:pt x="251460" y="162560"/>
                  </a:lnTo>
                  <a:close/>
                </a:path>
              </a:pathLst>
            </a:custGeom>
            <a:solidFill>
              <a:srgbClr val="1D1C24"/>
            </a:solidFill>
          </p:spPr>
        </p:sp>
        <p:sp>
          <p:nvSpPr>
            <p:cNvPr name="TextBox 9" id="9"/>
            <p:cNvSpPr txBox="true"/>
            <p:nvPr/>
          </p:nvSpPr>
          <p:spPr>
            <a:xfrm>
              <a:off x="139700" y="117475"/>
              <a:ext cx="406400" cy="441325"/>
            </a:xfrm>
            <a:prstGeom prst="rect">
              <a:avLst/>
            </a:prstGeom>
          </p:spPr>
          <p:txBody>
            <a:bodyPr anchor="ctr" rtlCol="false" tIns="50800" lIns="50800" bIns="50800" rIns="50800"/>
            <a:lstStyle/>
            <a:p>
              <a:pPr algn="ctr">
                <a:lnSpc>
                  <a:spcPts val="2940"/>
                </a:lnSpc>
              </a:pPr>
            </a:p>
          </p:txBody>
        </p:sp>
      </p:grpSp>
      <p:grpSp>
        <p:nvGrpSpPr>
          <p:cNvPr name="Group 10" id="10"/>
          <p:cNvGrpSpPr/>
          <p:nvPr/>
        </p:nvGrpSpPr>
        <p:grpSpPr>
          <a:xfrm rot="0">
            <a:off x="2105025" y="4248150"/>
            <a:ext cx="796706" cy="781952"/>
            <a:chOff x="0" y="0"/>
            <a:chExt cx="685800" cy="673100"/>
          </a:xfrm>
        </p:grpSpPr>
        <p:sp>
          <p:nvSpPr>
            <p:cNvPr name="Freeform 11" id="11"/>
            <p:cNvSpPr/>
            <p:nvPr/>
          </p:nvSpPr>
          <p:spPr>
            <a:xfrm flipH="false" flipV="false" rot="0">
              <a:off x="0" y="0"/>
              <a:ext cx="685800" cy="668020"/>
            </a:xfrm>
            <a:custGeom>
              <a:avLst/>
              <a:gdLst/>
              <a:ahLst/>
              <a:cxnLst/>
              <a:rect r="r" b="b" t="t" l="l"/>
              <a:pathLst>
                <a:path h="668020" w="685800">
                  <a:moveTo>
                    <a:pt x="342900" y="0"/>
                  </a:moveTo>
                  <a:lnTo>
                    <a:pt x="434340" y="162560"/>
                  </a:lnTo>
                  <a:lnTo>
                    <a:pt x="618490" y="132080"/>
                  </a:lnTo>
                  <a:lnTo>
                    <a:pt x="547370" y="304800"/>
                  </a:lnTo>
                  <a:lnTo>
                    <a:pt x="685800" y="430530"/>
                  </a:lnTo>
                  <a:lnTo>
                    <a:pt x="506730" y="482600"/>
                  </a:lnTo>
                  <a:lnTo>
                    <a:pt x="495300" y="668020"/>
                  </a:lnTo>
                  <a:lnTo>
                    <a:pt x="342900" y="561340"/>
                  </a:lnTo>
                  <a:lnTo>
                    <a:pt x="190500" y="668020"/>
                  </a:lnTo>
                  <a:lnTo>
                    <a:pt x="179070" y="482600"/>
                  </a:lnTo>
                  <a:lnTo>
                    <a:pt x="0" y="430530"/>
                  </a:lnTo>
                  <a:lnTo>
                    <a:pt x="138430" y="304800"/>
                  </a:lnTo>
                  <a:lnTo>
                    <a:pt x="67310" y="132080"/>
                  </a:lnTo>
                  <a:lnTo>
                    <a:pt x="251460" y="162560"/>
                  </a:lnTo>
                  <a:close/>
                </a:path>
              </a:pathLst>
            </a:custGeom>
            <a:solidFill>
              <a:srgbClr val="1D1C24"/>
            </a:solidFill>
          </p:spPr>
        </p:sp>
        <p:sp>
          <p:nvSpPr>
            <p:cNvPr name="TextBox 12" id="12"/>
            <p:cNvSpPr txBox="true"/>
            <p:nvPr/>
          </p:nvSpPr>
          <p:spPr>
            <a:xfrm>
              <a:off x="139700" y="117475"/>
              <a:ext cx="406400" cy="441325"/>
            </a:xfrm>
            <a:prstGeom prst="rect">
              <a:avLst/>
            </a:prstGeom>
          </p:spPr>
          <p:txBody>
            <a:bodyPr anchor="ctr" rtlCol="false" tIns="50800" lIns="50800" bIns="50800" rIns="50800"/>
            <a:lstStyle/>
            <a:p>
              <a:pPr algn="ctr">
                <a:lnSpc>
                  <a:spcPts val="2940"/>
                </a:lnSpc>
              </a:pPr>
            </a:p>
          </p:txBody>
        </p:sp>
      </p:grpSp>
      <p:grpSp>
        <p:nvGrpSpPr>
          <p:cNvPr name="Group 13" id="13"/>
          <p:cNvGrpSpPr/>
          <p:nvPr/>
        </p:nvGrpSpPr>
        <p:grpSpPr>
          <a:xfrm rot="0">
            <a:off x="3543300" y="7829550"/>
            <a:ext cx="5448300" cy="895350"/>
            <a:chOff x="0" y="0"/>
            <a:chExt cx="7264400" cy="1193800"/>
          </a:xfrm>
        </p:grpSpPr>
        <p:sp>
          <p:nvSpPr>
            <p:cNvPr name="TextBox 14" id="14"/>
            <p:cNvSpPr txBox="true"/>
            <p:nvPr/>
          </p:nvSpPr>
          <p:spPr>
            <a:xfrm rot="0">
              <a:off x="0" y="731584"/>
              <a:ext cx="7264400" cy="462216"/>
            </a:xfrm>
            <a:prstGeom prst="rect">
              <a:avLst/>
            </a:prstGeom>
          </p:spPr>
          <p:txBody>
            <a:bodyPr anchor="t" rtlCol="false" tIns="0" lIns="0" bIns="0" rIns="0">
              <a:spAutoFit/>
            </a:bodyPr>
            <a:lstStyle/>
            <a:p>
              <a:pPr algn="l" marL="0" indent="0" lvl="0">
                <a:lnSpc>
                  <a:spcPts val="2939"/>
                </a:lnSpc>
              </a:pPr>
              <a:r>
                <a:rPr lang="en-US" sz="2099">
                  <a:solidFill>
                    <a:srgbClr val="1D1C24"/>
                  </a:solidFill>
                  <a:latin typeface="DM Sans"/>
                  <a:ea typeface="DM Sans"/>
                  <a:cs typeface="DM Sans"/>
                  <a:sym typeface="DM Sans"/>
                </a:rPr>
                <a:t>C</a:t>
              </a:r>
              <a:r>
                <a:rPr lang="en-US" sz="2099">
                  <a:solidFill>
                    <a:srgbClr val="1D1C24"/>
                  </a:solidFill>
                  <a:latin typeface="DM Sans"/>
                  <a:ea typeface="DM Sans"/>
                  <a:cs typeface="DM Sans"/>
                  <a:sym typeface="DM Sans"/>
                </a:rPr>
                <a:t>asey Wong - CS4800</a:t>
              </a:r>
            </a:p>
          </p:txBody>
        </p:sp>
        <p:sp>
          <p:nvSpPr>
            <p:cNvPr name="TextBox 15" id="15"/>
            <p:cNvSpPr txBox="true"/>
            <p:nvPr/>
          </p:nvSpPr>
          <p:spPr>
            <a:xfrm rot="0">
              <a:off x="0" y="-47625"/>
              <a:ext cx="7264400" cy="571208"/>
            </a:xfrm>
            <a:prstGeom prst="rect">
              <a:avLst/>
            </a:prstGeom>
          </p:spPr>
          <p:txBody>
            <a:bodyPr anchor="t" rtlCol="false" tIns="0" lIns="0" bIns="0" rIns="0">
              <a:spAutoFit/>
            </a:bodyPr>
            <a:lstStyle/>
            <a:p>
              <a:pPr algn="l" marL="0" indent="0" lvl="0">
                <a:lnSpc>
                  <a:spcPts val="3639"/>
                </a:lnSpc>
              </a:pPr>
              <a:r>
                <a:rPr lang="en-US" sz="2599">
                  <a:solidFill>
                    <a:srgbClr val="1D1C24"/>
                  </a:solidFill>
                  <a:latin typeface="DM Sans"/>
                  <a:ea typeface="DM Sans"/>
                  <a:cs typeface="DM Sans"/>
                  <a:sym typeface="DM Sans"/>
                </a:rPr>
                <a:t>PRE</a:t>
              </a:r>
              <a:r>
                <a:rPr lang="en-US" sz="2599">
                  <a:solidFill>
                    <a:srgbClr val="1D1C24"/>
                  </a:solidFill>
                  <a:latin typeface="DM Sans"/>
                  <a:ea typeface="DM Sans"/>
                  <a:cs typeface="DM Sans"/>
                  <a:sym typeface="DM Sans"/>
                </a:rPr>
                <a:t>SENTER</a:t>
              </a:r>
            </a:p>
          </p:txBody>
        </p:sp>
      </p:grpSp>
      <p:grpSp>
        <p:nvGrpSpPr>
          <p:cNvPr name="Group 16" id="16"/>
          <p:cNvGrpSpPr/>
          <p:nvPr/>
        </p:nvGrpSpPr>
        <p:grpSpPr>
          <a:xfrm rot="0">
            <a:off x="3543300" y="6038850"/>
            <a:ext cx="5448300" cy="895350"/>
            <a:chOff x="0" y="0"/>
            <a:chExt cx="7264400" cy="1193800"/>
          </a:xfrm>
        </p:grpSpPr>
        <p:sp>
          <p:nvSpPr>
            <p:cNvPr name="TextBox 17" id="17"/>
            <p:cNvSpPr txBox="true"/>
            <p:nvPr/>
          </p:nvSpPr>
          <p:spPr>
            <a:xfrm rot="0">
              <a:off x="0" y="731584"/>
              <a:ext cx="7264400" cy="462216"/>
            </a:xfrm>
            <a:prstGeom prst="rect">
              <a:avLst/>
            </a:prstGeom>
          </p:spPr>
          <p:txBody>
            <a:bodyPr anchor="t" rtlCol="false" tIns="0" lIns="0" bIns="0" rIns="0">
              <a:spAutoFit/>
            </a:bodyPr>
            <a:lstStyle/>
            <a:p>
              <a:pPr algn="l" marL="0" indent="0" lvl="0">
                <a:lnSpc>
                  <a:spcPts val="2939"/>
                </a:lnSpc>
              </a:pPr>
              <a:r>
                <a:rPr lang="en-US" sz="2099">
                  <a:solidFill>
                    <a:srgbClr val="1D1C24"/>
                  </a:solidFill>
                  <a:latin typeface="DM Sans"/>
                  <a:ea typeface="DM Sans"/>
                  <a:cs typeface="DM Sans"/>
                  <a:sym typeface="DM Sans"/>
                </a:rPr>
                <a:t>wss</a:t>
              </a:r>
              <a:r>
                <a:rPr lang="en-US" sz="2099">
                  <a:solidFill>
                    <a:srgbClr val="1D1C24"/>
                  </a:solidFill>
                  <a:latin typeface="DM Sans"/>
                  <a:ea typeface="DM Sans"/>
                  <a:cs typeface="DM Sans"/>
                  <a:sym typeface="DM Sans"/>
                </a:rPr>
                <a:t>-revised.replit.app</a:t>
              </a:r>
            </a:p>
          </p:txBody>
        </p:sp>
        <p:sp>
          <p:nvSpPr>
            <p:cNvPr name="TextBox 18" id="18"/>
            <p:cNvSpPr txBox="true"/>
            <p:nvPr/>
          </p:nvSpPr>
          <p:spPr>
            <a:xfrm rot="0">
              <a:off x="0" y="-47625"/>
              <a:ext cx="7264400" cy="571208"/>
            </a:xfrm>
            <a:prstGeom prst="rect">
              <a:avLst/>
            </a:prstGeom>
          </p:spPr>
          <p:txBody>
            <a:bodyPr anchor="t" rtlCol="false" tIns="0" lIns="0" bIns="0" rIns="0">
              <a:spAutoFit/>
            </a:bodyPr>
            <a:lstStyle/>
            <a:p>
              <a:pPr algn="l" marL="0" indent="0" lvl="0">
                <a:lnSpc>
                  <a:spcPts val="3639"/>
                </a:lnSpc>
              </a:pPr>
              <a:r>
                <a:rPr lang="en-US" sz="2599">
                  <a:solidFill>
                    <a:srgbClr val="1D1C24"/>
                  </a:solidFill>
                  <a:latin typeface="DM Sans"/>
                  <a:ea typeface="DM Sans"/>
                  <a:cs typeface="DM Sans"/>
                  <a:sym typeface="DM Sans"/>
                </a:rPr>
                <a:t>LIVE DEMO</a:t>
              </a:r>
            </a:p>
          </p:txBody>
        </p:sp>
      </p:grpSp>
      <p:grpSp>
        <p:nvGrpSpPr>
          <p:cNvPr name="Group 19" id="19"/>
          <p:cNvGrpSpPr/>
          <p:nvPr/>
        </p:nvGrpSpPr>
        <p:grpSpPr>
          <a:xfrm rot="0">
            <a:off x="3543300" y="4248150"/>
            <a:ext cx="5448300" cy="1354077"/>
            <a:chOff x="0" y="0"/>
            <a:chExt cx="7264400" cy="1805436"/>
          </a:xfrm>
        </p:grpSpPr>
        <p:sp>
          <p:nvSpPr>
            <p:cNvPr name="TextBox 20" id="20"/>
            <p:cNvSpPr txBox="true"/>
            <p:nvPr/>
          </p:nvSpPr>
          <p:spPr>
            <a:xfrm rot="0">
              <a:off x="0" y="1343220"/>
              <a:ext cx="7264400" cy="462216"/>
            </a:xfrm>
            <a:prstGeom prst="rect">
              <a:avLst/>
            </a:prstGeom>
          </p:spPr>
          <p:txBody>
            <a:bodyPr anchor="t" rtlCol="false" tIns="0" lIns="0" bIns="0" rIns="0">
              <a:spAutoFit/>
            </a:bodyPr>
            <a:lstStyle/>
            <a:p>
              <a:pPr algn="l" marL="0" indent="0" lvl="0">
                <a:lnSpc>
                  <a:spcPts val="2939"/>
                </a:lnSpc>
              </a:pPr>
            </a:p>
          </p:txBody>
        </p:sp>
        <p:sp>
          <p:nvSpPr>
            <p:cNvPr name="TextBox 21" id="21"/>
            <p:cNvSpPr txBox="true"/>
            <p:nvPr/>
          </p:nvSpPr>
          <p:spPr>
            <a:xfrm rot="0">
              <a:off x="0" y="-47625"/>
              <a:ext cx="7264400" cy="1182844"/>
            </a:xfrm>
            <a:prstGeom prst="rect">
              <a:avLst/>
            </a:prstGeom>
          </p:spPr>
          <p:txBody>
            <a:bodyPr anchor="t" rtlCol="false" tIns="0" lIns="0" bIns="0" rIns="0">
              <a:spAutoFit/>
            </a:bodyPr>
            <a:lstStyle/>
            <a:p>
              <a:pPr algn="l">
                <a:lnSpc>
                  <a:spcPts val="3639"/>
                </a:lnSpc>
              </a:pPr>
              <a:r>
                <a:rPr lang="en-US" sz="2599">
                  <a:solidFill>
                    <a:srgbClr val="1D1C24"/>
                  </a:solidFill>
                  <a:latin typeface="DM Sans"/>
                  <a:ea typeface="DM Sans"/>
                  <a:cs typeface="DM Sans"/>
                  <a:sym typeface="DM Sans"/>
                </a:rPr>
                <a:t>QUESTIONS?</a:t>
              </a:r>
            </a:p>
            <a:p>
              <a:pPr algn="l" marL="0" indent="0" lvl="0">
                <a:lnSpc>
                  <a:spcPts val="3639"/>
                </a:lnSpc>
              </a:pPr>
              <a:r>
                <a:rPr lang="en-US" sz="2599">
                  <a:solidFill>
                    <a:srgbClr val="1D1C24"/>
                  </a:solidFill>
                  <a:latin typeface="DM Sans"/>
                  <a:ea typeface="DM Sans"/>
                  <a:cs typeface="DM Sans"/>
                  <a:sym typeface="DM Sans"/>
                </a:rPr>
                <a:t>A</a:t>
              </a:r>
              <a:r>
                <a:rPr lang="en-US" sz="2599">
                  <a:solidFill>
                    <a:srgbClr val="1D1C24"/>
                  </a:solidFill>
                  <a:latin typeface="DM Sans"/>
                  <a:ea typeface="DM Sans"/>
                  <a:cs typeface="DM Sans"/>
                  <a:sym typeface="DM Sans"/>
                </a:rPr>
                <a:t>NY QUESTIONS ABOUT WSS2?</a:t>
              </a:r>
            </a:p>
          </p:txBody>
        </p:sp>
      </p:grpSp>
      <p:sp>
        <p:nvSpPr>
          <p:cNvPr name="TextBox 22" id="22"/>
          <p:cNvSpPr txBox="true"/>
          <p:nvPr/>
        </p:nvSpPr>
        <p:spPr>
          <a:xfrm rot="0">
            <a:off x="666750" y="851535"/>
            <a:ext cx="9763125" cy="1282065"/>
          </a:xfrm>
          <a:prstGeom prst="rect">
            <a:avLst/>
          </a:prstGeom>
        </p:spPr>
        <p:txBody>
          <a:bodyPr anchor="t" rtlCol="false" tIns="0" lIns="0" bIns="0" rIns="0">
            <a:spAutoFit/>
          </a:bodyPr>
          <a:lstStyle/>
          <a:p>
            <a:pPr algn="l" marL="0" indent="0" lvl="0">
              <a:lnSpc>
                <a:spcPts val="9600"/>
              </a:lnSpc>
              <a:spcBef>
                <a:spcPct val="0"/>
              </a:spcBef>
            </a:pPr>
            <a:r>
              <a:rPr lang="en-US" sz="9600">
                <a:solidFill>
                  <a:srgbClr val="1D1C24"/>
                </a:solidFill>
                <a:latin typeface="Georgia Pro Light"/>
                <a:ea typeface="Georgia Pro Light"/>
                <a:cs typeface="Georgia Pro Light"/>
                <a:sym typeface="Georgia Pro Light"/>
              </a:rPr>
              <a:t>Th</a:t>
            </a:r>
            <a:r>
              <a:rPr lang="en-US" sz="9600" strike="noStrike" u="none">
                <a:solidFill>
                  <a:srgbClr val="1D1C24"/>
                </a:solidFill>
                <a:latin typeface="Georgia Pro Light"/>
                <a:ea typeface="Georgia Pro Light"/>
                <a:cs typeface="Georgia Pro Light"/>
                <a:sym typeface="Georgia Pro Light"/>
              </a:rPr>
              <a:t>a</a:t>
            </a:r>
            <a:r>
              <a:rPr lang="en-US" sz="9600" strike="noStrike" u="none">
                <a:solidFill>
                  <a:srgbClr val="1D1C24"/>
                </a:solidFill>
                <a:latin typeface="Georgia Pro Light"/>
                <a:ea typeface="Georgia Pro Light"/>
                <a:cs typeface="Georgia Pro Light"/>
                <a:sym typeface="Georgia Pro Light"/>
              </a:rPr>
              <a:t>nk</a:t>
            </a:r>
            <a:r>
              <a:rPr lang="en-US" sz="9600" strike="noStrike" u="none">
                <a:solidFill>
                  <a:srgbClr val="1D1C24"/>
                </a:solidFill>
                <a:latin typeface="Georgia Pro Light"/>
                <a:ea typeface="Georgia Pro Light"/>
                <a:cs typeface="Georgia Pro Light"/>
                <a:sym typeface="Georgia Pro Light"/>
              </a:rPr>
              <a:t> </a:t>
            </a:r>
            <a:r>
              <a:rPr lang="en-US" sz="9600" strike="noStrike" u="none">
                <a:solidFill>
                  <a:srgbClr val="1D1C24"/>
                </a:solidFill>
                <a:latin typeface="Georgia Pro Light"/>
                <a:ea typeface="Georgia Pro Light"/>
                <a:cs typeface="Georgia Pro Light"/>
                <a:sym typeface="Georgia Pro Light"/>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WSS2</dc:description>
  <dc:identifier>DAHB2EE-OZQ</dc:identifier>
  <dcterms:modified xsi:type="dcterms:W3CDTF">2011-08-01T06:04:30Z</dcterms:modified>
  <cp:revision>1</cp:revision>
  <dc:title>Presentation - WSS2</dc:title>
</cp:coreProperties>
</file>